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github.com/JO3ALT/awhd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30352"/>
            <a:ext cx="1536192" cy="310896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39496"/>
            <a:ext cx="1536192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FFB454"/>
                </a:solidFill>
                <a:latin typeface="Yu Gothic"/>
              </a:defRPr>
            </a:pPr>
            <a:r>
              <a:t>PUBLIC DRAFT v0.2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621792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4600" b="1">
                <a:solidFill>
                  <a:srgbClr val="F4F7FB"/>
                </a:solidFill>
                <a:latin typeface="Yu Gothic"/>
              </a:defRPr>
            </a:pPr>
            <a:r>
              <a:t>AWHDL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947672"/>
            <a:ext cx="621792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300" b="1">
                <a:solidFill>
                  <a:srgbClr val="26D9C7"/>
                </a:solidFill>
                <a:latin typeface="Yu Gothic"/>
              </a:defRPr>
            </a:pPr>
            <a:r>
              <a:t>Agentic Workflow Harness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2300" b="1">
                <a:solidFill>
                  <a:srgbClr val="26D9C7"/>
                </a:solidFill>
                <a:latin typeface="Yu Gothic"/>
              </a:defRPr>
            </a:pPr>
            <a:r>
              <a:t>Description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3154680"/>
            <a:ext cx="539496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200" b="1">
                <a:solidFill>
                  <a:srgbClr val="F4F7FB"/>
                </a:solidFill>
                <a:latin typeface="Yu Gothic"/>
              </a:defRPr>
            </a:pPr>
            <a:r>
              <a:t>複数AIとMCPの反復ループを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2200" b="1">
                <a:solidFill>
                  <a:srgbClr val="F4F7FB"/>
                </a:solidFill>
                <a:latin typeface="Yu Gothic"/>
              </a:defRPr>
            </a:pPr>
            <a:r>
              <a:t>設計・検証・改善するための言語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343400"/>
            <a:ext cx="50292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9FB0C7"/>
                </a:solidFill>
                <a:latin typeface="Yu Gothic"/>
              </a:defRPr>
            </a:pPr>
            <a:r>
              <a:t>プロンプトの試行錯誤から、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9FB0C7"/>
                </a:solidFill>
                <a:latin typeface="Yu Gothic"/>
              </a:defRPr>
            </a:pPr>
            <a:r>
              <a:t>ループエンジニアリングへ。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870448"/>
            <a:ext cx="36576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9FB0C7"/>
                </a:solidFill>
                <a:latin typeface="Yu Gothic"/>
              </a:defRPr>
            </a:pPr>
            <a:r>
              <a:t>JO3ALT  |  github.com/JO3ALT/awhdl</a:t>
            </a:r>
          </a:p>
        </p:txBody>
      </p:sp>
      <p:sp>
        <p:nvSpPr>
          <p:cNvPr id="9" name="Oval 8"/>
          <p:cNvSpPr/>
          <p:nvPr/>
        </p:nvSpPr>
        <p:spPr>
          <a:xfrm>
            <a:off x="7863840" y="2194560"/>
            <a:ext cx="2103120" cy="2103120"/>
          </a:xfrm>
          <a:prstGeom prst="ellipse">
            <a:avLst/>
          </a:prstGeom>
          <a:solidFill>
            <a:srgbClr val="10283A"/>
          </a:solidFill>
          <a:ln w="2794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990087"/>
            <a:ext cx="155448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2300" b="1">
                <a:solidFill>
                  <a:srgbClr val="F4F7FB"/>
                </a:solidFill>
                <a:latin typeface="Yu Gothic"/>
              </a:defRPr>
            </a:pPr>
            <a:r>
              <a:t>LOOP</a:t>
            </a:r>
          </a:p>
        </p:txBody>
      </p:sp>
      <p:sp>
        <p:nvSpPr>
          <p:cNvPr id="11" name="Oval 10"/>
          <p:cNvSpPr/>
          <p:nvPr/>
        </p:nvSpPr>
        <p:spPr>
          <a:xfrm>
            <a:off x="8522208" y="612648"/>
            <a:ext cx="786384" cy="786384"/>
          </a:xfrm>
          <a:prstGeom prst="ellipse">
            <a:avLst/>
          </a:prstGeom>
          <a:solidFill>
            <a:srgbClr val="141F33"/>
          </a:solidFill>
          <a:ln w="2540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58784" y="886968"/>
            <a:ext cx="713232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4F7FB"/>
                </a:solidFill>
                <a:latin typeface="Yu Gothic"/>
              </a:defRPr>
            </a:pPr>
            <a:r>
              <a:t>AI</a:t>
            </a:r>
          </a:p>
        </p:txBody>
      </p:sp>
      <p:sp>
        <p:nvSpPr>
          <p:cNvPr id="13" name="Oval 12"/>
          <p:cNvSpPr/>
          <p:nvPr/>
        </p:nvSpPr>
        <p:spPr>
          <a:xfrm>
            <a:off x="10442448" y="1847088"/>
            <a:ext cx="786384" cy="786384"/>
          </a:xfrm>
          <a:prstGeom prst="ellipse">
            <a:avLst/>
          </a:prstGeom>
          <a:solidFill>
            <a:srgbClr val="141F33"/>
          </a:solidFill>
          <a:ln w="2540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9024" y="2121408"/>
            <a:ext cx="713232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4F7FB"/>
                </a:solidFill>
                <a:latin typeface="Yu Gothic"/>
              </a:defRPr>
            </a:pPr>
            <a:r>
              <a:t>MCP</a:t>
            </a:r>
          </a:p>
        </p:txBody>
      </p:sp>
      <p:sp>
        <p:nvSpPr>
          <p:cNvPr id="15" name="Oval 14"/>
          <p:cNvSpPr/>
          <p:nvPr/>
        </p:nvSpPr>
        <p:spPr>
          <a:xfrm>
            <a:off x="9939528" y="4224528"/>
            <a:ext cx="786384" cy="786384"/>
          </a:xfrm>
          <a:prstGeom prst="ellipse">
            <a:avLst/>
          </a:prstGeom>
          <a:solidFill>
            <a:srgbClr val="141F33"/>
          </a:solidFill>
          <a:ln w="2540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76104" y="4498848"/>
            <a:ext cx="713232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4F7FB"/>
                </a:solidFill>
                <a:latin typeface="Yu Gothic"/>
              </a:defRPr>
            </a:pPr>
            <a:r>
              <a:t>判定</a:t>
            </a:r>
          </a:p>
        </p:txBody>
      </p:sp>
      <p:sp>
        <p:nvSpPr>
          <p:cNvPr id="17" name="Oval 16"/>
          <p:cNvSpPr/>
          <p:nvPr/>
        </p:nvSpPr>
        <p:spPr>
          <a:xfrm>
            <a:off x="7104888" y="4681728"/>
            <a:ext cx="786384" cy="786384"/>
          </a:xfrm>
          <a:prstGeom prst="ellipse">
            <a:avLst/>
          </a:prstGeom>
          <a:solidFill>
            <a:srgbClr val="141F33"/>
          </a:solidFill>
          <a:ln w="254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41464" y="4956048"/>
            <a:ext cx="713232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4F7FB"/>
                </a:solidFill>
                <a:latin typeface="Yu Gothic"/>
              </a:defRPr>
            </a:pPr>
            <a:r>
              <a:t>人間</a:t>
            </a:r>
          </a:p>
        </p:txBody>
      </p:sp>
      <p:sp>
        <p:nvSpPr>
          <p:cNvPr id="19" name="Oval 18"/>
          <p:cNvSpPr/>
          <p:nvPr/>
        </p:nvSpPr>
        <p:spPr>
          <a:xfrm>
            <a:off x="6419088" y="2212848"/>
            <a:ext cx="786384" cy="786384"/>
          </a:xfrm>
          <a:prstGeom prst="ellipse">
            <a:avLst/>
          </a:prstGeom>
          <a:solidFill>
            <a:srgbClr val="141F33"/>
          </a:solidFill>
          <a:ln w="2540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2487168"/>
            <a:ext cx="713232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4F7FB"/>
                </a:solidFill>
                <a:latin typeface="Yu Gothic"/>
              </a:defRPr>
            </a:pPr>
            <a:r>
              <a:t>Tool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15400" y="1005840"/>
            <a:ext cx="1920240" cy="1234440"/>
          </a:xfrm>
          <a:prstGeom prst="line">
            <a:avLst/>
          </a:prstGeom>
          <a:ln w="1651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0332720" y="2240280"/>
            <a:ext cx="502920" cy="2377440"/>
          </a:xfrm>
          <a:prstGeom prst="line">
            <a:avLst/>
          </a:prstGeom>
          <a:ln w="1651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498079" y="4617720"/>
            <a:ext cx="2834641" cy="457200"/>
          </a:xfrm>
          <a:prstGeom prst="line">
            <a:avLst/>
          </a:prstGeom>
          <a:ln w="1651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6812280" y="2606040"/>
            <a:ext cx="685799" cy="2468880"/>
          </a:xfrm>
          <a:prstGeom prst="line">
            <a:avLst/>
          </a:prstGeom>
          <a:ln w="1651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812280" y="1005840"/>
            <a:ext cx="2103120" cy="1600200"/>
          </a:xfrm>
          <a:prstGeom prst="line">
            <a:avLst/>
          </a:prstGeom>
          <a:ln w="1651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6D9C7"/>
                </a:solidFill>
                <a:latin typeface="Yu Gothic"/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F4F7FB"/>
                </a:solidFill>
                <a:latin typeface="Yu Gothic"/>
              </a:defRPr>
            </a:pPr>
            <a:r>
              <a:t>なぜ、いま『ループの言語』なのか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972800" cy="0"/>
          </a:xfrm>
          <a:prstGeom prst="line">
            <a:avLst/>
          </a:prstGeom>
          <a:ln w="1524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21792" y="1417320"/>
            <a:ext cx="5257800" cy="416052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417320"/>
            <a:ext cx="64008" cy="4160520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63624"/>
            <a:ext cx="492861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000" b="1">
                <a:solidFill>
                  <a:srgbClr val="F4F7FB"/>
                </a:solidFill>
                <a:latin typeface="Yu Gothic"/>
              </a:defRPr>
            </a:pPr>
            <a:r>
              <a:t>プロンプト列のままでは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84248"/>
            <a:ext cx="4928616" cy="34655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9FB0C7"/>
                </a:solidFill>
                <a:latin typeface="Yu Gothic"/>
              </a:defRPr>
            </a:pPr>
            <a:r>
              <a:t>・接続と責務が暗黙的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9FB0C7"/>
                </a:solidFill>
                <a:latin typeface="Yu Gothic"/>
              </a:defRPr>
            </a:pPr>
            <a:r>
              <a:t>・停止条件をAIに依存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9FB0C7"/>
                </a:solidFill>
                <a:latin typeface="Yu Gothic"/>
              </a:defRPr>
            </a:pPr>
            <a:r>
              <a:t>・失敗時の戻り先が曖昧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9FB0C7"/>
                </a:solidFill>
                <a:latin typeface="Yu Gothic"/>
              </a:defRPr>
            </a:pPr>
            <a:r>
              <a:t>・権限とデータ境界が見えない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9FB0C7"/>
                </a:solidFill>
                <a:latin typeface="Yu Gothic"/>
              </a:defRPr>
            </a:pPr>
            <a:r>
              <a:t>・再現・比較・監査が難しい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1417320"/>
            <a:ext cx="5257800" cy="416052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91072" y="1417320"/>
            <a:ext cx="64008" cy="4160520"/>
          </a:xfrm>
          <a:prstGeom prst="rect">
            <a:avLst/>
          </a:prstGeom>
          <a:solidFill>
            <a:srgbClr val="71E096"/>
          </a:solidFill>
          <a:ln w="1270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63624"/>
            <a:ext cx="492861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000" b="1">
                <a:solidFill>
                  <a:srgbClr val="F4F7FB"/>
                </a:solidFill>
                <a:latin typeface="Yu Gothic"/>
              </a:defRPr>
            </a:pPr>
            <a:r>
              <a:t>設計対象として扱う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84248"/>
            <a:ext cx="4928616" cy="34655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9FB0C7"/>
                </a:solidFill>
                <a:latin typeface="Yu Gothic"/>
              </a:defRPr>
            </a:pPr>
            <a:r>
              <a:t>・部品と接続を宣言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9FB0C7"/>
                </a:solidFill>
                <a:latin typeface="Yu Gothic"/>
              </a:defRPr>
            </a:pPr>
            <a:r>
              <a:t>・イベントと状態遷移を定義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9FB0C7"/>
                </a:solidFill>
                <a:latin typeface="Yu Gothic"/>
              </a:defRPr>
            </a:pPr>
            <a:r>
              <a:t>・予算と期限を機械的に強制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9FB0C7"/>
                </a:solidFill>
                <a:latin typeface="Yu Gothic"/>
              </a:defRPr>
            </a:pPr>
            <a:r>
              <a:t>・決定的検査で完了を判定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9FB0C7"/>
                </a:solidFill>
                <a:latin typeface="Yu Gothic"/>
              </a:defRPr>
            </a:pPr>
            <a:r>
              <a:t>・実行traceから改善する</a:t>
            </a:r>
          </a:p>
        </p:txBody>
      </p:sp>
      <p:sp>
        <p:nvSpPr>
          <p:cNvPr id="13" name="Chevron 12"/>
          <p:cNvSpPr/>
          <p:nvPr/>
        </p:nvSpPr>
        <p:spPr>
          <a:xfrm>
            <a:off x="5934456" y="3246120"/>
            <a:ext cx="256032" cy="502920"/>
          </a:xfrm>
          <a:prstGeom prst="chevron">
            <a:avLst/>
          </a:prstGeom>
          <a:solidFill>
            <a:srgbClr val="2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5916168"/>
            <a:ext cx="10972800" cy="43891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C5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980176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6D9C7"/>
                </a:solidFill>
                <a:latin typeface="Yu Gothic"/>
              </a:defRPr>
            </a:pPr>
            <a:r>
              <a:t>AWHDLは、偶然うまく動く連鎖を、検査可能な反復システムへ変える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5471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6D9C7"/>
                </a:solidFill>
                <a:latin typeface="Yu Gothic"/>
              </a:defRPr>
            </a:pPr>
            <a:r>
              <a:t>NAMING &amp;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F4F7FB"/>
                </a:solidFill>
                <a:latin typeface="Yu Gothic"/>
              </a:defRPr>
            </a:pPr>
            <a:r>
              <a:t>HはHardwareではなく、Harness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972800" cy="0"/>
          </a:xfrm>
          <a:prstGeom prst="line">
            <a:avLst/>
          </a:prstGeom>
          <a:ln w="1524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663440" y="1901952"/>
            <a:ext cx="2880360" cy="2880360"/>
          </a:xfrm>
          <a:prstGeom prst="ellipse">
            <a:avLst/>
          </a:prstGeom>
          <a:solidFill>
            <a:srgbClr val="10283A"/>
          </a:solidFill>
          <a:ln w="3175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2542032"/>
            <a:ext cx="23317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F4F7FB"/>
                </a:solidFill>
                <a:latin typeface="Yu Gothic"/>
              </a:defRPr>
            </a:pPr>
            <a:r>
              <a:t>AWHDL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65192" y="3054096"/>
            <a:ext cx="22860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1">
                <a:solidFill>
                  <a:srgbClr val="26D9C7"/>
                </a:solidFill>
                <a:latin typeface="Yu Gothic"/>
              </a:defRPr>
            </a:pPr>
            <a:r>
              <a:t>制約された</a:t>
            </a:r>
          </a:p>
          <a:p>
            <a:pPr algn="ctr">
              <a:lnSpc>
                <a:spcPct val="105000"/>
              </a:lnSpc>
              <a:spcAft>
                <a:spcPts val="0"/>
              </a:spcAft>
              <a:defRPr sz="1400" b="1">
                <a:solidFill>
                  <a:srgbClr val="26D9C7"/>
                </a:solidFill>
                <a:latin typeface="Yu Gothic"/>
              </a:defRPr>
            </a:pPr>
            <a:r>
              <a:t>実行ハーネス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148840" cy="86868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64008" cy="868680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563624"/>
            <a:ext cx="18196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00" b="1">
                <a:solidFill>
                  <a:srgbClr val="F4F7FB"/>
                </a:solidFill>
                <a:latin typeface="Yu Gothic"/>
              </a:defRPr>
            </a:pPr>
            <a:r>
              <a:t>複数AI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84248"/>
            <a:ext cx="1819656" cy="17373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生成・レビュー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34640" y="1851660"/>
            <a:ext cx="1874520" cy="1394460"/>
          </a:xfrm>
          <a:prstGeom prst="line">
            <a:avLst/>
          </a:prstGeom>
          <a:ln w="1651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2788920"/>
            <a:ext cx="2148840" cy="86868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788920"/>
            <a:ext cx="64008" cy="868680"/>
          </a:xfrm>
          <a:prstGeom prst="rect">
            <a:avLst/>
          </a:prstGeom>
          <a:solidFill>
            <a:srgbClr val="AE8BFF"/>
          </a:solidFill>
          <a:ln w="1270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935224"/>
            <a:ext cx="18196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00" b="1">
                <a:solidFill>
                  <a:srgbClr val="F4F7FB"/>
                </a:solidFill>
                <a:latin typeface="Yu Gothic"/>
              </a:defRPr>
            </a:pPr>
            <a:r>
              <a:t>MCP /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355848"/>
            <a:ext cx="1819656" cy="17373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検証・計算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34640" y="3223260"/>
            <a:ext cx="1874520" cy="22860"/>
          </a:xfrm>
          <a:prstGeom prst="line">
            <a:avLst/>
          </a:prstGeom>
          <a:ln w="1651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5800" y="4160520"/>
            <a:ext cx="2148840" cy="86868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60520"/>
            <a:ext cx="64008" cy="86868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4306824"/>
            <a:ext cx="18196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00" b="1">
                <a:solidFill>
                  <a:srgbClr val="F4F7FB"/>
                </a:solidFill>
                <a:latin typeface="Yu Gothic"/>
              </a:defRPr>
            </a:pPr>
            <a:r>
              <a:t>人間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727448"/>
            <a:ext cx="1819656" cy="17373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承認・介入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2834640" y="3246120"/>
            <a:ext cx="1874520" cy="1348739"/>
          </a:xfrm>
          <a:prstGeom prst="line">
            <a:avLst/>
          </a:prstGeom>
          <a:ln w="1651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372600" y="1417320"/>
            <a:ext cx="2148840" cy="86868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72600" y="1417320"/>
            <a:ext cx="64008" cy="868680"/>
          </a:xfrm>
          <a:prstGeom prst="rect">
            <a:avLst/>
          </a:prstGeom>
          <a:solidFill>
            <a:srgbClr val="26D9C7"/>
          </a:solidFill>
          <a:ln w="1270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73768" y="1563624"/>
            <a:ext cx="18196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00" b="1">
                <a:solidFill>
                  <a:srgbClr val="F4F7FB"/>
                </a:solidFill>
                <a:latin typeface="Yu Gothic"/>
              </a:defRPr>
            </a:pPr>
            <a:r>
              <a:t>Event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3768" y="1984248"/>
            <a:ext cx="1819656" cy="17373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起動・完了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7498079" y="1851660"/>
            <a:ext cx="1874521" cy="1394460"/>
          </a:xfrm>
          <a:prstGeom prst="line">
            <a:avLst/>
          </a:prstGeom>
          <a:ln w="1651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372600" y="2788920"/>
            <a:ext cx="2148840" cy="86868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72600" y="2788920"/>
            <a:ext cx="64008" cy="868680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73768" y="2935224"/>
            <a:ext cx="18196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00" b="1">
                <a:solidFill>
                  <a:srgbClr val="F4F7FB"/>
                </a:solidFill>
                <a:latin typeface="Yu Gothic"/>
              </a:defRPr>
            </a:pPr>
            <a:r>
              <a:t>Policy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73768" y="3355848"/>
            <a:ext cx="1819656" cy="17373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権限・情報流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7498079" y="3223260"/>
            <a:ext cx="1874521" cy="22860"/>
          </a:xfrm>
          <a:prstGeom prst="line">
            <a:avLst/>
          </a:prstGeom>
          <a:ln w="1651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372600" y="4160520"/>
            <a:ext cx="2148840" cy="86868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72600" y="4160520"/>
            <a:ext cx="64008" cy="868680"/>
          </a:xfrm>
          <a:prstGeom prst="rect">
            <a:avLst/>
          </a:prstGeom>
          <a:solidFill>
            <a:srgbClr val="71E096"/>
          </a:solidFill>
          <a:ln w="1270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73768" y="4306824"/>
            <a:ext cx="18196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00" b="1">
                <a:solidFill>
                  <a:srgbClr val="F4F7FB"/>
                </a:solidFill>
                <a:latin typeface="Yu Gothic"/>
              </a:defRPr>
            </a:pPr>
            <a:r>
              <a:t>Budget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73768" y="4727448"/>
            <a:ext cx="1819656" cy="17373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反復・時間・費用</a:t>
            </a:r>
          </a:p>
        </p:txBody>
      </p:sp>
      <p:cxnSp>
        <p:nvCxnSpPr>
          <p:cNvPr id="37" name="Connector 36"/>
          <p:cNvCxnSpPr/>
          <p:nvPr/>
        </p:nvCxnSpPr>
        <p:spPr>
          <a:xfrm flipH="1" flipV="1">
            <a:off x="7498079" y="3246120"/>
            <a:ext cx="1874521" cy="1348739"/>
          </a:xfrm>
          <a:prstGeom prst="line">
            <a:avLst/>
          </a:prstGeom>
          <a:ln w="1651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94360" y="5916168"/>
            <a:ext cx="10972800" cy="43891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C5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980176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6D9C7"/>
                </a:solidFill>
                <a:latin typeface="Yu Gothic"/>
              </a:defRPr>
            </a:pPr>
            <a:r>
              <a:t>接続だけでなく、反復・権限・停止・安全を一つの構造として束ねる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65471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6D9C7"/>
                </a:solidFill>
                <a:latin typeface="Yu Gothic"/>
              </a:defRPr>
            </a:pPr>
            <a:r>
              <a:t>CORE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F4F7FB"/>
                </a:solidFill>
                <a:latin typeface="Yu Gothic"/>
              </a:defRPr>
            </a:pPr>
            <a:r>
              <a:t>ループエンジニアリングという考え方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972800" cy="0"/>
          </a:xfrm>
          <a:prstGeom prst="line">
            <a:avLst/>
          </a:prstGeom>
          <a:ln w="1524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658368" y="1828800"/>
            <a:ext cx="1170432" cy="1170432"/>
          </a:xfrm>
          <a:prstGeom prst="ellipse">
            <a:avLst/>
          </a:prstGeom>
          <a:solidFill>
            <a:srgbClr val="141F33"/>
          </a:solidFill>
          <a:ln w="2794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084831"/>
            <a:ext cx="102412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設計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7" y="3136392"/>
            <a:ext cx="12801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構造・状態</a:t>
            </a:r>
          </a:p>
        </p:txBody>
      </p:sp>
      <p:sp>
        <p:nvSpPr>
          <p:cNvPr id="8" name="Chevron 7"/>
          <p:cNvSpPr/>
          <p:nvPr/>
        </p:nvSpPr>
        <p:spPr>
          <a:xfrm>
            <a:off x="2011680" y="2249424"/>
            <a:ext cx="274320" cy="347472"/>
          </a:xfrm>
          <a:prstGeom prst="chevron">
            <a:avLst/>
          </a:prstGeom>
          <a:solidFill>
            <a:srgbClr val="5A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60320" y="1828800"/>
            <a:ext cx="1170432" cy="1170432"/>
          </a:xfrm>
          <a:prstGeom prst="ellipse">
            <a:avLst/>
          </a:prstGeom>
          <a:solidFill>
            <a:srgbClr val="141F33"/>
          </a:solidFill>
          <a:ln w="2794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3472" y="2084831"/>
            <a:ext cx="102412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解析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3136392"/>
            <a:ext cx="12801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型・情報流</a:t>
            </a:r>
          </a:p>
        </p:txBody>
      </p:sp>
      <p:sp>
        <p:nvSpPr>
          <p:cNvPr id="12" name="Chevron 11"/>
          <p:cNvSpPr/>
          <p:nvPr/>
        </p:nvSpPr>
        <p:spPr>
          <a:xfrm>
            <a:off x="3913631" y="2249424"/>
            <a:ext cx="274320" cy="347472"/>
          </a:xfrm>
          <a:prstGeom prst="chevron">
            <a:avLst/>
          </a:prstGeom>
          <a:solidFill>
            <a:srgbClr val="2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62272" y="1828800"/>
            <a:ext cx="1170432" cy="1170432"/>
          </a:xfrm>
          <a:prstGeom prst="ellipse">
            <a:avLst/>
          </a:prstGeom>
          <a:solidFill>
            <a:srgbClr val="141F33"/>
          </a:solidFill>
          <a:ln w="2794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2084831"/>
            <a:ext cx="102412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模擬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3136392"/>
            <a:ext cx="12801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障害・時間</a:t>
            </a:r>
          </a:p>
        </p:txBody>
      </p:sp>
      <p:sp>
        <p:nvSpPr>
          <p:cNvPr id="16" name="Chevron 15"/>
          <p:cNvSpPr/>
          <p:nvPr/>
        </p:nvSpPr>
        <p:spPr>
          <a:xfrm>
            <a:off x="5815583" y="2249424"/>
            <a:ext cx="274320" cy="347472"/>
          </a:xfrm>
          <a:prstGeom prst="chevron">
            <a:avLst/>
          </a:prstGeom>
          <a:solidFill>
            <a:srgbClr val="AE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828800"/>
            <a:ext cx="1170432" cy="1170432"/>
          </a:xfrm>
          <a:prstGeom prst="ellipse">
            <a:avLst/>
          </a:prstGeom>
          <a:solidFill>
            <a:srgbClr val="141F33"/>
          </a:solidFill>
          <a:ln w="2794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2084831"/>
            <a:ext cx="102412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観測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3136392"/>
            <a:ext cx="12801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trace・予算</a:t>
            </a:r>
          </a:p>
        </p:txBody>
      </p:sp>
      <p:sp>
        <p:nvSpPr>
          <p:cNvPr id="20" name="Chevron 19"/>
          <p:cNvSpPr/>
          <p:nvPr/>
        </p:nvSpPr>
        <p:spPr>
          <a:xfrm>
            <a:off x="7717536" y="2249424"/>
            <a:ext cx="274320" cy="347472"/>
          </a:xfrm>
          <a:prstGeom prst="chevron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66176" y="1828800"/>
            <a:ext cx="1170432" cy="1170432"/>
          </a:xfrm>
          <a:prstGeom prst="ellipse">
            <a:avLst/>
          </a:prstGeom>
          <a:solidFill>
            <a:srgbClr val="141F33"/>
          </a:solidFill>
          <a:ln w="2794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2084831"/>
            <a:ext cx="102412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検証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3136392"/>
            <a:ext cx="12801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judge・assert</a:t>
            </a:r>
          </a:p>
        </p:txBody>
      </p:sp>
      <p:sp>
        <p:nvSpPr>
          <p:cNvPr id="24" name="Chevron 23"/>
          <p:cNvSpPr/>
          <p:nvPr/>
        </p:nvSpPr>
        <p:spPr>
          <a:xfrm>
            <a:off x="9619488" y="2249424"/>
            <a:ext cx="274320" cy="347472"/>
          </a:xfrm>
          <a:prstGeom prst="chevron">
            <a:avLst/>
          </a:prstGeom>
          <a:solidFill>
            <a:srgbClr val="71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68128" y="1828800"/>
            <a:ext cx="1170432" cy="1170432"/>
          </a:xfrm>
          <a:prstGeom prst="ellipse">
            <a:avLst/>
          </a:prstGeom>
          <a:solidFill>
            <a:srgbClr val="141F33"/>
          </a:solidFill>
          <a:ln w="27940">
            <a:solidFill>
              <a:srgbClr val="FF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0" y="2084831"/>
            <a:ext cx="102412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改善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22408" y="3136392"/>
            <a:ext cx="12801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構成・規則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1170432" y="3886200"/>
            <a:ext cx="9665208" cy="0"/>
          </a:xfrm>
          <a:prstGeom prst="line">
            <a:avLst/>
          </a:prstGeom>
          <a:ln w="2540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hevron 28"/>
          <p:cNvSpPr/>
          <p:nvPr/>
        </p:nvSpPr>
        <p:spPr>
          <a:xfrm>
            <a:off x="850392" y="3712463"/>
            <a:ext cx="310896" cy="347472"/>
          </a:xfrm>
          <a:prstGeom prst="chevron">
            <a:avLst/>
          </a:prstGeom>
          <a:solidFill>
            <a:srgbClr val="2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4069080"/>
            <a:ext cx="6400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6D9C7"/>
                </a:solidFill>
                <a:latin typeface="Yu Gothic"/>
              </a:defRPr>
            </a:pPr>
            <a:r>
              <a:t>実行証拠を次の設計へ戻す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1560" y="4754880"/>
            <a:ext cx="3063240" cy="77724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1560" y="4754880"/>
            <a:ext cx="64008" cy="777240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52728" y="4901184"/>
            <a:ext cx="27340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00" b="1">
                <a:solidFill>
                  <a:srgbClr val="F4F7FB"/>
                </a:solidFill>
                <a:latin typeface="Yu Gothic"/>
              </a:defRPr>
            </a:pPr>
            <a:r>
              <a:t>比較できる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52728" y="5321808"/>
            <a:ext cx="2734056" cy="8229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モデル・構成・判定規則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53712" y="4754880"/>
            <a:ext cx="3063240" cy="77724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53712" y="4754880"/>
            <a:ext cx="64008" cy="777240"/>
          </a:xfrm>
          <a:prstGeom prst="rect">
            <a:avLst/>
          </a:prstGeom>
          <a:solidFill>
            <a:srgbClr val="71E096"/>
          </a:solidFill>
          <a:ln w="1270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4901184"/>
            <a:ext cx="27340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00" b="1">
                <a:solidFill>
                  <a:srgbClr val="F4F7FB"/>
                </a:solidFill>
                <a:latin typeface="Yu Gothic"/>
              </a:defRPr>
            </a:pPr>
            <a:r>
              <a:t>再現できる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5321808"/>
            <a:ext cx="2734056" cy="8229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入力・IR・trace・version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65008" y="4754880"/>
            <a:ext cx="3063240" cy="77724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65008" y="4754880"/>
            <a:ext cx="64008" cy="77724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66176" y="4901184"/>
            <a:ext cx="27340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00" b="1">
                <a:solidFill>
                  <a:srgbClr val="F4F7FB"/>
                </a:solidFill>
                <a:latin typeface="Yu Gothic"/>
              </a:defRPr>
            </a:pPr>
            <a:r>
              <a:t>改善できる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6176" y="5321808"/>
            <a:ext cx="2734056" cy="8229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9FB0C7"/>
                </a:solidFill>
                <a:latin typeface="Yu Gothic"/>
              </a:defRPr>
            </a:pPr>
            <a:r>
              <a:t>失敗原因と停止理由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65471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6D9C7"/>
                </a:solidFill>
                <a:latin typeface="Yu Gothic"/>
              </a:defRPr>
            </a:pPr>
            <a:r>
              <a:t>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F4F7FB"/>
                </a:solidFill>
                <a:latin typeface="Yu Gothic"/>
              </a:defRPr>
            </a:pPr>
            <a:r>
              <a:t>AWHDLの言語モデル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972800" cy="0"/>
          </a:xfrm>
          <a:prstGeom prst="line">
            <a:avLst/>
          </a:prstGeom>
          <a:ln w="1524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417320"/>
            <a:ext cx="3063240" cy="612648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27048"/>
            <a:ext cx="12344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00" b="1">
                <a:solidFill>
                  <a:srgbClr val="26D9C7"/>
                </a:solidFill>
                <a:latin typeface="Consolas"/>
              </a:defRPr>
            </a:pPr>
            <a:r>
              <a:t>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536192"/>
            <a:ext cx="144475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外部interface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12848"/>
            <a:ext cx="3063240" cy="612648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12344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00" b="1">
                <a:solidFill>
                  <a:srgbClr val="26D9C7"/>
                </a:solidFill>
                <a:latin typeface="Consolas"/>
              </a:defRPr>
            </a:pPr>
            <a: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331720"/>
            <a:ext cx="144475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実装と配置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08376"/>
            <a:ext cx="3063240" cy="612648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18104"/>
            <a:ext cx="12344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00" b="1">
                <a:solidFill>
                  <a:srgbClr val="26D9C7"/>
                </a:solidFill>
                <a:latin typeface="Consolas"/>
              </a:defRPr>
            </a:pPr>
            <a:r>
              <a:t>device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127248"/>
            <a:ext cx="144475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AI / MCP / 人間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03904"/>
            <a:ext cx="3063240" cy="612648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13632"/>
            <a:ext cx="12344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00" b="1">
                <a:solidFill>
                  <a:srgbClr val="26D9C7"/>
                </a:solidFill>
                <a:latin typeface="Consolas"/>
              </a:defRPr>
            </a:pPr>
            <a:r>
              <a:t>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922776"/>
            <a:ext cx="144475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型付きデータ・event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99432"/>
            <a:ext cx="3063240" cy="612648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09160"/>
            <a:ext cx="12344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00" b="1">
                <a:solidFill>
                  <a:srgbClr val="26D9C7"/>
                </a:solidFill>
                <a:latin typeface="Consolas"/>
              </a:defRPr>
            </a:pPr>
            <a:r>
              <a:t>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718304"/>
            <a:ext cx="144475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event駆動動作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1417320"/>
            <a:ext cx="3840480" cy="4041648"/>
          </a:xfrm>
          <a:prstGeom prst="roundRect">
            <a:avLst/>
          </a:prstGeom>
          <a:solidFill>
            <a:srgbClr val="102033"/>
          </a:solidFill>
          <a:ln w="2286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1664208"/>
            <a:ext cx="3246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F4F7FB"/>
                </a:solidFill>
                <a:latin typeface="Consolas"/>
              </a:defRPr>
            </a:pPr>
            <a:r>
              <a:t>architecture hybrid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2331720"/>
            <a:ext cx="2834640" cy="457200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2423160"/>
            <a:ext cx="2651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Consolas"/>
              </a:defRPr>
            </a:pPr>
            <a:r>
              <a:t>process / FSM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2999232"/>
            <a:ext cx="2834640" cy="457200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3090672"/>
            <a:ext cx="2651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Consolas"/>
              </a:defRPr>
            </a:pPr>
            <a:r>
              <a:t>signal / event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3666744"/>
            <a:ext cx="2834640" cy="457200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3758183"/>
            <a:ext cx="2651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Consolas"/>
              </a:defRPr>
            </a:pPr>
            <a:r>
              <a:t>device graph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334256"/>
            <a:ext cx="2834640" cy="457200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4425696"/>
            <a:ext cx="2651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Consolas"/>
              </a:defRPr>
            </a:pPr>
            <a:r>
              <a:t>policy / budget / assert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8" y="5047488"/>
            <a:ext cx="2926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型付き・イベント駆動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94192" y="1417320"/>
            <a:ext cx="3163824" cy="1042415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94192" y="1417320"/>
            <a:ext cx="64008" cy="1042415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0" y="1563624"/>
            <a:ext cx="2834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構造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1984248"/>
            <a:ext cx="2834640" cy="3474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何が存在し、どう接続するか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94192" y="2679192"/>
            <a:ext cx="3163824" cy="1042415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94192" y="2679192"/>
            <a:ext cx="64008" cy="1042415"/>
          </a:xfrm>
          <a:prstGeom prst="rect">
            <a:avLst/>
          </a:prstGeom>
          <a:solidFill>
            <a:srgbClr val="26D9C7"/>
          </a:solidFill>
          <a:ln w="1270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0" y="2825496"/>
            <a:ext cx="2834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制御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3246120"/>
            <a:ext cx="2834640" cy="3474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いつ動き、どこへ戻るか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94192" y="3941063"/>
            <a:ext cx="3163824" cy="1042415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94192" y="3941063"/>
            <a:ext cx="64008" cy="1042415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0" y="4087368"/>
            <a:ext cx="2834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制約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4507992"/>
            <a:ext cx="2834640" cy="34747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何を許し、いつ止めるか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916168"/>
            <a:ext cx="10972800" cy="43891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C5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980176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6D9C7"/>
                </a:solidFill>
                <a:latin typeface="Yu Gothic"/>
              </a:defRPr>
            </a:pPr>
            <a:r>
              <a:t>順番を書くのではなく、接続・イベント・制約を記述する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" y="65471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6D9C7"/>
                </a:solidFill>
                <a:latin typeface="Yu Gothic"/>
              </a:defRPr>
            </a:pPr>
            <a:r>
              <a:t>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F4F7FB"/>
                </a:solidFill>
                <a:latin typeface="Yu Gothic"/>
              </a:defRPr>
            </a:pPr>
            <a:r>
              <a:t>最小のAWHDL設計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972800" cy="0"/>
          </a:xfrm>
          <a:prstGeom prst="line">
            <a:avLst/>
          </a:prstGeom>
          <a:ln w="1524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353312"/>
            <a:ext cx="6400800" cy="4553712"/>
          </a:xfrm>
          <a:prstGeom prst="roundRect">
            <a:avLst/>
          </a:prstGeom>
          <a:solidFill>
            <a:srgbClr val="08101C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00200"/>
            <a:ext cx="5870448" cy="4078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D9E5F5"/>
                </a:solidFill>
                <a:latin typeface="Consolas"/>
              </a:defRPr>
            </a:pPr>
            <a:r>
              <a:t>entity hello is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D9E5F5"/>
                </a:solidFill>
                <a:latin typeface="Consolas"/>
              </a:defRPr>
            </a:pPr>
            <a:r>
              <a:t>  port (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D9E5F5"/>
                </a:solidFill>
                <a:latin typeface="Consolas"/>
              </a:defRPr>
            </a:pPr>
            <a:r>
              <a:t>    task   : in  text&lt;internal&gt;;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D9E5F5"/>
                </a:solidFill>
                <a:latin typeface="Consolas"/>
              </a:defRPr>
            </a:pPr>
            <a:r>
              <a:t>    result : out text&lt;internal&gt;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D9E5F5"/>
                </a:solidFill>
                <a:latin typeface="Consolas"/>
              </a:defRPr>
            </a:pPr>
            <a:r>
              <a:t>  );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D9E5F5"/>
                </a:solidFill>
                <a:latin typeface="Consolas"/>
              </a:defRPr>
            </a:pPr>
            <a:r>
              <a:t>end hello;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D9E5F5"/>
                </a:solidFill>
                <a:latin typeface="Consolas"/>
              </a:defRPr>
            </a:pPr>
          </a:p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D9E5F5"/>
                </a:solidFill>
                <a:latin typeface="Consolas"/>
              </a:defRPr>
            </a:pPr>
            <a:r>
              <a:t>architecture behavioral of hello is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D9E5F5"/>
                </a:solidFill>
                <a:latin typeface="Consolas"/>
              </a:defRPr>
            </a:pPr>
            <a:r>
              <a:t>  device llm : local_llm;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D9E5F5"/>
                </a:solidFill>
                <a:latin typeface="Consolas"/>
              </a:defRPr>
            </a:pPr>
            <a:r>
              <a:t>begin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D9E5F5"/>
                </a:solidFill>
                <a:latin typeface="Consolas"/>
              </a:defRPr>
            </a:pPr>
            <a:r>
              <a:t>  process(task)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D9E5F5"/>
                </a:solidFill>
                <a:latin typeface="Consolas"/>
              </a:defRPr>
            </a:pPr>
            <a:r>
              <a:t>  begin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D9E5F5"/>
                </a:solidFill>
                <a:latin typeface="Consolas"/>
              </a:defRPr>
            </a:pPr>
            <a:r>
              <a:t>    llm.run(task) -&gt; result;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D9E5F5"/>
                </a:solidFill>
                <a:latin typeface="Consolas"/>
              </a:defRPr>
            </a:pPr>
            <a:r>
              <a:t>  end process;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D9E5F5"/>
                </a:solidFill>
                <a:latin typeface="Consolas"/>
              </a:defRPr>
            </a:pPr>
            <a:r>
              <a:t>end behavioral;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417320"/>
            <a:ext cx="4069080" cy="105156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2360" y="1417320"/>
            <a:ext cx="64008" cy="1051560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53528" y="1563624"/>
            <a:ext cx="373989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1 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53528" y="1984248"/>
            <a:ext cx="3739896" cy="3566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9FB0C7"/>
                </a:solidFill>
                <a:latin typeface="Yu Gothic"/>
              </a:defRPr>
            </a:pPr>
            <a:r>
              <a:t>taskを受け、resultを返す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2697480"/>
            <a:ext cx="4069080" cy="105156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52360" y="2697480"/>
            <a:ext cx="64008" cy="1051560"/>
          </a:xfrm>
          <a:prstGeom prst="rect">
            <a:avLst/>
          </a:prstGeom>
          <a:solidFill>
            <a:srgbClr val="AE8BFF"/>
          </a:solidFill>
          <a:ln w="1270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53528" y="2843784"/>
            <a:ext cx="373989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2  device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3528" y="3264408"/>
            <a:ext cx="3739896" cy="3566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9FB0C7"/>
                </a:solidFill>
                <a:latin typeface="Yu Gothic"/>
              </a:defRPr>
            </a:pPr>
            <a:r>
              <a:t>LLMを交換可能な部品として宣言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3977639"/>
            <a:ext cx="4069080" cy="105156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3977639"/>
            <a:ext cx="64008" cy="1051560"/>
          </a:xfrm>
          <a:prstGeom prst="rect">
            <a:avLst/>
          </a:prstGeom>
          <a:solidFill>
            <a:srgbClr val="26D9C7"/>
          </a:solidFill>
          <a:ln w="1270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53528" y="4123944"/>
            <a:ext cx="373989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3  event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3528" y="4544568"/>
            <a:ext cx="3739896" cy="3566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9FB0C7"/>
                </a:solidFill>
                <a:latin typeface="Yu Gothic"/>
              </a:defRPr>
            </a:pPr>
            <a:r>
              <a:t>taskの変化でprocessを起動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8" y="5367528"/>
            <a:ext cx="3931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FB454"/>
                </a:solidFill>
                <a:latin typeface="Yu Gothic"/>
              </a:defRPr>
            </a:pPr>
            <a:r>
              <a:rPr/>
              <a:t>v0.1: aic check + run-design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65471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6D9C7"/>
                </a:solidFill>
                <a:latin typeface="Yu Gothic"/>
              </a:defRPr>
            </a:pPr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F4F7FB"/>
                </a:solidFill>
                <a:latin typeface="Yu Gothic"/>
              </a:defRPr>
            </a:pPr>
            <a:r>
              <a:t>複数AI・MCPを一つの反復ループへ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972800" cy="0"/>
          </a:xfrm>
          <a:prstGeom prst="line">
            <a:avLst/>
          </a:prstGeom>
          <a:ln w="1524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" y="2423160"/>
            <a:ext cx="1143000" cy="658368"/>
          </a:xfrm>
          <a:prstGeom prst="roundRect">
            <a:avLst/>
          </a:prstGeom>
          <a:solidFill>
            <a:srgbClr val="141F33"/>
          </a:solidFill>
          <a:ln w="2159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87752"/>
            <a:ext cx="10515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課題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74519" y="2423160"/>
            <a:ext cx="1417320" cy="658368"/>
          </a:xfrm>
          <a:prstGeom prst="roundRect">
            <a:avLst/>
          </a:prstGeom>
          <a:solidFill>
            <a:srgbClr val="141F33"/>
          </a:solidFill>
          <a:ln w="2159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39" y="2587752"/>
            <a:ext cx="13258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Coding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1417320"/>
            <a:ext cx="1417320" cy="658368"/>
          </a:xfrm>
          <a:prstGeom prst="roundRect">
            <a:avLst/>
          </a:prstGeom>
          <a:solidFill>
            <a:srgbClr val="141F33"/>
          </a:solidFill>
          <a:ln w="2159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581912"/>
            <a:ext cx="13258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Compiler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2423160"/>
            <a:ext cx="1417320" cy="658368"/>
          </a:xfrm>
          <a:prstGeom prst="roundRect">
            <a:avLst/>
          </a:prstGeom>
          <a:solidFill>
            <a:srgbClr val="141F33"/>
          </a:solidFill>
          <a:ln w="2159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2587752"/>
            <a:ext cx="13258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Tests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3429000"/>
            <a:ext cx="1417320" cy="658368"/>
          </a:xfrm>
          <a:prstGeom prst="roundRect">
            <a:avLst/>
          </a:prstGeom>
          <a:solidFill>
            <a:srgbClr val="141F33"/>
          </a:solidFill>
          <a:ln w="2159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3593592"/>
            <a:ext cx="13258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Prover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2423160"/>
            <a:ext cx="1417320" cy="658368"/>
          </a:xfrm>
          <a:prstGeom prst="roundRect">
            <a:avLst/>
          </a:prstGeom>
          <a:solidFill>
            <a:srgbClr val="141F33"/>
          </a:solidFill>
          <a:ln w="2159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2587752"/>
            <a:ext cx="13258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Review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2423160"/>
            <a:ext cx="1417320" cy="658368"/>
          </a:xfrm>
          <a:prstGeom prst="roundRect">
            <a:avLst/>
          </a:prstGeom>
          <a:solidFill>
            <a:srgbClr val="141F33"/>
          </a:solidFill>
          <a:ln w="2159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2587752"/>
            <a:ext cx="13258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Judge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60" y="1645920"/>
            <a:ext cx="1554480" cy="658368"/>
          </a:xfrm>
          <a:prstGeom prst="roundRect">
            <a:avLst/>
          </a:prstGeom>
          <a:solidFill>
            <a:srgbClr val="141F33"/>
          </a:solidFill>
          <a:ln w="2159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1810512"/>
            <a:ext cx="1463039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完了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60" y="3246120"/>
            <a:ext cx="1554480" cy="658368"/>
          </a:xfrm>
          <a:prstGeom prst="roundRect">
            <a:avLst/>
          </a:prstGeom>
          <a:solidFill>
            <a:srgbClr val="141F33"/>
          </a:solidFill>
          <a:ln w="2159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3410712"/>
            <a:ext cx="1463039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人間承認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645920" y="2752344"/>
            <a:ext cx="228599" cy="0"/>
          </a:xfrm>
          <a:prstGeom prst="line">
            <a:avLst/>
          </a:prstGeom>
          <a:ln w="21590">
            <a:solidFill>
              <a:srgbClr val="26D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291840" y="2752344"/>
            <a:ext cx="411480" cy="0"/>
          </a:xfrm>
          <a:prstGeom prst="line">
            <a:avLst/>
          </a:prstGeom>
          <a:ln w="21590">
            <a:solidFill>
              <a:srgbClr val="26D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120640" y="1746504"/>
            <a:ext cx="594360" cy="859536"/>
          </a:xfrm>
          <a:prstGeom prst="line">
            <a:avLst/>
          </a:prstGeom>
          <a:ln w="21590">
            <a:solidFill>
              <a:srgbClr val="26D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120640" y="2752344"/>
            <a:ext cx="594360" cy="0"/>
          </a:xfrm>
          <a:prstGeom prst="line">
            <a:avLst/>
          </a:prstGeom>
          <a:ln w="21590">
            <a:solidFill>
              <a:srgbClr val="26D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120640" y="2907792"/>
            <a:ext cx="594360" cy="850392"/>
          </a:xfrm>
          <a:prstGeom prst="line">
            <a:avLst/>
          </a:prstGeom>
          <a:ln w="21590">
            <a:solidFill>
              <a:srgbClr val="26D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132320" y="2752344"/>
            <a:ext cx="502920" cy="0"/>
          </a:xfrm>
          <a:prstGeom prst="line">
            <a:avLst/>
          </a:prstGeom>
          <a:ln w="21590">
            <a:solidFill>
              <a:srgbClr val="26D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052560" y="1975104"/>
            <a:ext cx="685800" cy="676656"/>
          </a:xfrm>
          <a:prstGeom prst="line">
            <a:avLst/>
          </a:prstGeom>
          <a:ln w="21590">
            <a:solidFill>
              <a:srgbClr val="26D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052560" y="2871216"/>
            <a:ext cx="685800" cy="704088"/>
          </a:xfrm>
          <a:prstGeom prst="line">
            <a:avLst/>
          </a:prstGeom>
          <a:ln w="21590">
            <a:solidFill>
              <a:srgbClr val="26D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730752" y="4370832"/>
            <a:ext cx="1371600" cy="310896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30752" y="4379976"/>
            <a:ext cx="137160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AE8BFF"/>
                </a:solidFill>
                <a:latin typeface="Yu Gothic"/>
              </a:defRPr>
            </a:pPr>
            <a:r>
              <a:t>MCPで並列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321040" y="3090672"/>
            <a:ext cx="0" cy="1865376"/>
          </a:xfrm>
          <a:prstGeom prst="line">
            <a:avLst/>
          </a:prstGeom>
          <a:ln w="25400">
            <a:solidFill>
              <a:srgbClr val="F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2578608" y="4956048"/>
            <a:ext cx="5742432" cy="0"/>
          </a:xfrm>
          <a:prstGeom prst="line">
            <a:avLst/>
          </a:prstGeom>
          <a:ln w="25400">
            <a:solidFill>
              <a:srgbClr val="F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578608" y="3090672"/>
            <a:ext cx="0" cy="1865376"/>
          </a:xfrm>
          <a:prstGeom prst="line">
            <a:avLst/>
          </a:prstGeom>
          <a:ln w="25400">
            <a:solidFill>
              <a:srgbClr val="F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hevron 35"/>
          <p:cNvSpPr/>
          <p:nvPr/>
        </p:nvSpPr>
        <p:spPr>
          <a:xfrm>
            <a:off x="2423160" y="3182112"/>
            <a:ext cx="310896" cy="384048"/>
          </a:xfrm>
          <a:prstGeom prst="chevron">
            <a:avLst/>
          </a:prstGeom>
          <a:solidFill>
            <a:srgbClr val="F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5084064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F6B7A"/>
                </a:solidFill>
                <a:latin typeface="Yu Gothic"/>
              </a:defRPr>
            </a:pPr>
            <a:r>
              <a:t>診断を付けて再試行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16368" y="1481328"/>
            <a:ext cx="1664208" cy="310896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16368" y="1490472"/>
            <a:ext cx="1664208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71E096"/>
                </a:solidFill>
                <a:latin typeface="Yu Gothic"/>
              </a:defRPr>
            </a:pPr>
            <a:r>
              <a:t>決定的判定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916168"/>
            <a:ext cx="10972800" cy="43891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C5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980176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6D9C7"/>
                </a:solidFill>
                <a:latin typeface="Yu Gothic"/>
              </a:defRPr>
            </a:pPr>
            <a:r>
              <a:t>AIは候補を作る。Conductorが検証・反復・停止を制御する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" y="65471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6D9C7"/>
                </a:solidFill>
                <a:latin typeface="Yu Gothic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F4F7FB"/>
                </a:solidFill>
                <a:latin typeface="Yu Gothic"/>
              </a:defRPr>
            </a:pPr>
            <a:r>
              <a:t>LLMを信頼済み制御プレーンにしない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972800" cy="0"/>
          </a:xfrm>
          <a:prstGeom prst="line">
            <a:avLst/>
          </a:prstGeom>
          <a:ln w="1524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21792" y="1353312"/>
            <a:ext cx="3063240" cy="4370832"/>
          </a:xfrm>
          <a:prstGeom prst="roundRect">
            <a:avLst/>
          </a:prstGeom>
          <a:solidFill>
            <a:srgbClr val="111B2C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09344"/>
            <a:ext cx="2514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9FB0C7"/>
                </a:solidFill>
                <a:latin typeface="Yu Gothic"/>
              </a:defRPr>
            </a:pPr>
            <a:r>
              <a:t>Untrusted Devices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" y="2267712"/>
            <a:ext cx="2148840" cy="475488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368296"/>
            <a:ext cx="1965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Local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8992" y="2962656"/>
            <a:ext cx="2148840" cy="475488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3063240"/>
            <a:ext cx="1965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MCP Servers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3657600"/>
            <a:ext cx="2148840" cy="475488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758184"/>
            <a:ext cx="1965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Cloud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8992" y="4352544"/>
            <a:ext cx="2148840" cy="475488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453128"/>
            <a:ext cx="1965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Yu Gothic"/>
              </a:defRPr>
            </a:pPr>
            <a:r>
              <a:t>Human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1353312"/>
            <a:ext cx="4572000" cy="4370832"/>
          </a:xfrm>
          <a:prstGeom prst="roundRect">
            <a:avLst/>
          </a:prstGeom>
          <a:solidFill>
            <a:srgbClr val="10283A"/>
          </a:solidFill>
          <a:ln w="2794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527048"/>
            <a:ext cx="3931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600" b="1">
                <a:solidFill>
                  <a:srgbClr val="F4F7FB"/>
                </a:solidFill>
                <a:latin typeface="Yu Gothic"/>
              </a:defRPr>
            </a:pPr>
            <a:r>
              <a:t>AI Conductor</a:t>
            </a:r>
          </a:p>
          <a:p>
            <a:pPr algn="ctr">
              <a:lnSpc>
                <a:spcPct val="105000"/>
              </a:lnSpc>
              <a:spcAft>
                <a:spcPts val="0"/>
              </a:spcAft>
              <a:defRPr sz="1600" b="1">
                <a:solidFill>
                  <a:srgbClr val="F4F7FB"/>
                </a:solidFill>
                <a:latin typeface="Yu Gothic"/>
              </a:defRPr>
            </a:pPr>
            <a:r>
              <a:t>Trusted Control Plane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16002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6D9C7"/>
                </a:solidFill>
                <a:latin typeface="Yu Gothic"/>
              </a:defRPr>
            </a:pPr>
            <a:r>
              <a:t>Policy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212848"/>
            <a:ext cx="2057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情報流・capability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834640"/>
            <a:ext cx="16002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6D9C7"/>
                </a:solidFill>
                <a:latin typeface="Yu Gothic"/>
              </a:defRPr>
            </a:pPr>
            <a:r>
              <a:t>Event Scheduler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834640"/>
            <a:ext cx="2057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signal・timer・parallel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456432"/>
            <a:ext cx="16002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6D9C7"/>
                </a:solidFill>
                <a:latin typeface="Yu Gothic"/>
              </a:defRPr>
            </a:pPr>
            <a:r>
              <a:t>Budget / Timeout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456432"/>
            <a:ext cx="2057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反復を機械的に制限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078224"/>
            <a:ext cx="16002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6D9C7"/>
                </a:solidFill>
                <a:latin typeface="Yu Gothic"/>
              </a:defRPr>
            </a:pPr>
            <a:r>
              <a:t>Judge / Assertion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4078224"/>
            <a:ext cx="2057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完了と安全を判定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700016"/>
            <a:ext cx="16002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6D9C7"/>
                </a:solidFill>
                <a:latin typeface="Yu Gothic"/>
              </a:defRPr>
            </a:pPr>
            <a:r>
              <a:t>Audit /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700016"/>
            <a:ext cx="2057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根拠と来歴を保存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1353312"/>
            <a:ext cx="2560320" cy="4370832"/>
          </a:xfrm>
          <a:prstGeom prst="roundRect">
            <a:avLst/>
          </a:prstGeom>
          <a:solidFill>
            <a:srgbClr val="111B2C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53728" y="1609344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9FB0C7"/>
                </a:solidFill>
                <a:latin typeface="Yu Gothic"/>
              </a:defRPr>
            </a:pPr>
            <a:r>
              <a:t>Enforcement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81160" y="2267712"/>
            <a:ext cx="2011680" cy="475488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2368296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4F7FB"/>
                </a:solidFill>
                <a:latin typeface="Yu Gothic"/>
              </a:defRPr>
            </a:pPr>
            <a:r>
              <a:t>Sandbox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81160" y="2962656"/>
            <a:ext cx="2011680" cy="475488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FF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3063240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4F7FB"/>
                </a:solidFill>
                <a:latin typeface="Yu Gothic"/>
              </a:defRPr>
            </a:pPr>
            <a:r>
              <a:t>Cloud Gateway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81160" y="3657600"/>
            <a:ext cx="2011680" cy="475488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3758184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4F7FB"/>
                </a:solidFill>
                <a:latin typeface="Yu Gothic"/>
              </a:defRPr>
            </a:pPr>
            <a:r>
              <a:t>Workspace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81160" y="4352544"/>
            <a:ext cx="2011680" cy="475488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72600" y="4453128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4F7FB"/>
                </a:solidFill>
                <a:latin typeface="Yu Gothic"/>
              </a:defRPr>
            </a:pPr>
            <a:r>
              <a:t>Approval Gate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685032" y="3429000"/>
            <a:ext cx="384048" cy="0"/>
          </a:xfrm>
          <a:prstGeom prst="line">
            <a:avLst/>
          </a:prstGeom>
          <a:ln w="25400">
            <a:solidFill>
              <a:srgbClr val="26D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hevron 37"/>
          <p:cNvSpPr/>
          <p:nvPr/>
        </p:nvSpPr>
        <p:spPr>
          <a:xfrm>
            <a:off x="3767328" y="3255264"/>
            <a:ext cx="256032" cy="347472"/>
          </a:xfrm>
          <a:prstGeom prst="chevron">
            <a:avLst/>
          </a:prstGeom>
          <a:solidFill>
            <a:srgbClr val="2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8641080" y="3429000"/>
            <a:ext cx="365760" cy="0"/>
          </a:xfrm>
          <a:prstGeom prst="line">
            <a:avLst/>
          </a:prstGeom>
          <a:ln w="25400">
            <a:solidFill>
              <a:srgbClr val="26D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hevron 39"/>
          <p:cNvSpPr/>
          <p:nvPr/>
        </p:nvSpPr>
        <p:spPr>
          <a:xfrm>
            <a:off x="8714232" y="3255264"/>
            <a:ext cx="256032" cy="347472"/>
          </a:xfrm>
          <a:prstGeom prst="chevron">
            <a:avLst/>
          </a:prstGeom>
          <a:solidFill>
            <a:srgbClr val="2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" y="65471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6D9C7"/>
                </a:solidFill>
                <a:latin typeface="Yu Gothic"/>
              </a:defRPr>
            </a:pPr>
            <a: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F4F7FB"/>
                </a:solidFill>
                <a:latin typeface="Yu Gothic"/>
              </a:defRPr>
            </a:pPr>
            <a:r>
              <a:t>安全性をプロンプトではなく仕組みで強制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972800" cy="0"/>
          </a:xfrm>
          <a:prstGeom prst="line">
            <a:avLst/>
          </a:prstGeom>
          <a:ln w="1524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13232" y="1389888"/>
            <a:ext cx="42976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F4F7FB"/>
                </a:solidFill>
                <a:latin typeface="Yu Gothic"/>
              </a:defRPr>
            </a:pPr>
            <a:r>
              <a:t>情報区分ラティス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" y="5230368"/>
            <a:ext cx="2057400" cy="475488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5321807"/>
            <a:ext cx="170992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Consolas"/>
              </a:defRPr>
            </a:pPr>
            <a:r>
              <a:t>public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4526279"/>
            <a:ext cx="2496312" cy="475488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617719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Consolas"/>
              </a:defRPr>
            </a:pPr>
            <a:r>
              <a:t>internal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3822191"/>
            <a:ext cx="2935224" cy="475488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913631"/>
            <a:ext cx="25877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Consolas"/>
              </a:defRPr>
            </a:pPr>
            <a:r>
              <a:t>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3118103"/>
            <a:ext cx="3374136" cy="475488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302666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Consolas"/>
              </a:defRPr>
            </a:pPr>
            <a:r>
              <a:t>restricted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2414015"/>
            <a:ext cx="3813048" cy="475488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FF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505456"/>
            <a:ext cx="346557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F4F7FB"/>
                </a:solidFill>
                <a:latin typeface="Consolas"/>
              </a:defRPr>
            </a:pPr>
            <a:r>
              <a:t>secret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057400"/>
            <a:ext cx="1005840" cy="33832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9FB0C7"/>
                </a:solidFill>
                <a:latin typeface="Yu Gothic"/>
              </a:defRPr>
            </a:pPr>
            <a:r>
              <a:t>高</a:t>
            </a:r>
          </a:p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9FB0C7"/>
                </a:solidFill>
                <a:latin typeface="Yu Gothic"/>
              </a:defRPr>
            </a:pPr>
            <a:r>
              <a:t>い</a:t>
            </a:r>
          </a:p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9FB0C7"/>
                </a:solidFill>
                <a:latin typeface="Yu Gothic"/>
              </a:defRPr>
            </a:pPr>
            <a:r>
              <a:t>機</a:t>
            </a:r>
          </a:p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9FB0C7"/>
                </a:solidFill>
                <a:latin typeface="Yu Gothic"/>
              </a:defRPr>
            </a:pPr>
            <a:r>
              <a:t>密</a:t>
            </a:r>
          </a:p>
          <a:p>
            <a:pPr algn="ctr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9FB0C7"/>
                </a:solidFill>
                <a:latin typeface="Yu Gothic"/>
              </a:defRPr>
            </a:pPr>
            <a:r>
              <a:t>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389888"/>
            <a:ext cx="2880360" cy="128016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1389888"/>
            <a:ext cx="64008" cy="1280160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21807" y="1536192"/>
            <a:ext cx="25511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600" b="1">
                <a:solidFill>
                  <a:srgbClr val="F4F7FB"/>
                </a:solidFill>
                <a:latin typeface="Yu Gothic"/>
              </a:defRPr>
            </a:pPr>
            <a:r>
              <a:t>Stage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7" y="1956816"/>
            <a:ext cx="2551176" cy="5852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静的情報フロー検査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AWHDL → AST → policy</a:t>
            </a:r>
          </a:p>
        </p:txBody>
      </p:sp>
      <p:sp>
        <p:nvSpPr>
          <p:cNvPr id="21" name="Chevron 20"/>
          <p:cNvSpPr/>
          <p:nvPr/>
        </p:nvSpPr>
        <p:spPr>
          <a:xfrm>
            <a:off x="8183879" y="1856231"/>
            <a:ext cx="347472" cy="411480"/>
          </a:xfrm>
          <a:prstGeom prst="chevron">
            <a:avLst/>
          </a:prstGeom>
          <a:solidFill>
            <a:srgbClr val="26D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41080" y="1389888"/>
            <a:ext cx="2880360" cy="128016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41080" y="1389888"/>
            <a:ext cx="64008" cy="1280160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42248" y="1536192"/>
            <a:ext cx="25511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600" b="1">
                <a:solidFill>
                  <a:srgbClr val="F4F7FB"/>
                </a:solidFill>
                <a:latin typeface="Yu Gothic"/>
              </a:defRPr>
            </a:pPr>
            <a:r>
              <a:t>Stage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2248" y="1956816"/>
            <a:ext cx="2551176" cy="5852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実payloadを再検査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DLP / secret / 宛先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3063240"/>
            <a:ext cx="2880360" cy="128016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20640" y="3063240"/>
            <a:ext cx="64008" cy="1280160"/>
          </a:xfrm>
          <a:prstGeom prst="rect">
            <a:avLst/>
          </a:prstGeom>
          <a:solidFill>
            <a:srgbClr val="AE8BFF"/>
          </a:solidFill>
          <a:ln w="1270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21807" y="3209544"/>
            <a:ext cx="25511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600" b="1">
                <a:solidFill>
                  <a:srgbClr val="F4F7FB"/>
                </a:solidFill>
                <a:latin typeface="Yu Gothic"/>
              </a:defRPr>
            </a:pPr>
            <a:r>
              <a:t>Declassifier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807" y="3630168"/>
            <a:ext cx="2551176" cy="5852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信頼済み変換だけが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区分を下げられる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3063240"/>
            <a:ext cx="2880360" cy="128016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41080" y="3063240"/>
            <a:ext cx="64008" cy="128016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42248" y="3209544"/>
            <a:ext cx="25511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600" b="1">
                <a:solidFill>
                  <a:srgbClr val="F4F7FB"/>
                </a:solidFill>
                <a:latin typeface="Yu Gothic"/>
              </a:defRPr>
            </a:pPr>
            <a:r>
              <a:t>Human Approval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42248" y="3630168"/>
            <a:ext cx="2551176" cy="58521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外部書込・破壊操作を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内容に束縛して承認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0" y="4736592"/>
            <a:ext cx="6400800" cy="82296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120640" y="4736592"/>
            <a:ext cx="64008" cy="822960"/>
          </a:xfrm>
          <a:prstGeom prst="rect">
            <a:avLst/>
          </a:prstGeom>
          <a:solidFill>
            <a:srgbClr val="71E096"/>
          </a:solidFill>
          <a:ln w="1270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21807" y="4882896"/>
            <a:ext cx="607161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1">
                <a:solidFill>
                  <a:srgbClr val="F4F7FB"/>
                </a:solidFill>
                <a:latin typeface="Yu Gothic"/>
              </a:defRPr>
            </a:pPr>
            <a:r>
              <a:t>原則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21807" y="5303520"/>
            <a:ext cx="6071616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9FB0C7"/>
                </a:solidFill>
                <a:latin typeface="Yu Gothic"/>
              </a:defRPr>
            </a:pPr>
            <a:r>
              <a:t>project自身は外側policyを越えて権限を増やせない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" y="65471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6D9C7"/>
                </a:solidFill>
                <a:latin typeface="Yu Gothic"/>
              </a:defRPr>
            </a:pPr>
            <a: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F4F7FB"/>
                </a:solidFill>
                <a:latin typeface="Yu Gothic"/>
              </a:defRPr>
            </a:pPr>
            <a:r>
              <a:rPr/>
              <a:t>現在地：仕様ドラフト v0.2 / v0.1 Profile を実装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972800" cy="0"/>
          </a:xfrm>
          <a:prstGeom prst="line">
            <a:avLst/>
          </a:prstGeom>
          <a:ln w="1524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51560" y="2011680"/>
            <a:ext cx="9006840" cy="0"/>
          </a:xfrm>
          <a:prstGeom prst="line">
            <a:avLst/>
          </a:prstGeom>
          <a:ln w="5080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31520" y="1627632"/>
            <a:ext cx="768096" cy="768096"/>
          </a:xfrm>
          <a:prstGeom prst="ellipse">
            <a:avLst/>
          </a:prstGeom>
          <a:solidFill>
            <a:srgbClr val="141F33"/>
          </a:solidFill>
          <a:ln w="2794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67665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4F7FB"/>
                </a:solidFill>
                <a:latin typeface="Yu Gothic"/>
              </a:defRPr>
            </a:pPr>
            <a:r>
              <a:t>M1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325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71E096"/>
                </a:solidFill>
                <a:latin typeface="Yu Gothic"/>
              </a:defRPr>
            </a:pPr>
            <a:r>
              <a:t>Parser</a:t>
            </a:r>
          </a:p>
        </p:txBody>
      </p:sp>
      <p:sp>
        <p:nvSpPr>
          <p:cNvPr id="9" name="Oval 8"/>
          <p:cNvSpPr/>
          <p:nvPr/>
        </p:nvSpPr>
        <p:spPr>
          <a:xfrm>
            <a:off x="2971800" y="1627632"/>
            <a:ext cx="768096" cy="768096"/>
          </a:xfrm>
          <a:prstGeom prst="ellipse">
            <a:avLst/>
          </a:prstGeom>
          <a:solidFill>
            <a:srgbClr val="141F33"/>
          </a:solidFill>
          <a:ln w="27940">
            <a:solidFill>
              <a:srgbClr val="9FB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828800"/>
            <a:ext cx="67665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4F7FB"/>
                </a:solidFill>
                <a:latin typeface="Yu Gothic"/>
              </a:defRPr>
            </a:pPr>
            <a:r>
              <a:t>M2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514600"/>
            <a:ext cx="1325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9FB0C7"/>
                </a:solidFill>
                <a:latin typeface="Yu Gothic"/>
              </a:defRPr>
            </a:pPr>
            <a:r>
              <a:t>Security</a:t>
            </a:r>
          </a:p>
        </p:txBody>
      </p:sp>
      <p:sp>
        <p:nvSpPr>
          <p:cNvPr id="12" name="Oval 11"/>
          <p:cNvSpPr/>
          <p:nvPr/>
        </p:nvSpPr>
        <p:spPr>
          <a:xfrm>
            <a:off x="5212080" y="1627632"/>
            <a:ext cx="768096" cy="768096"/>
          </a:xfrm>
          <a:prstGeom prst="ellipse">
            <a:avLst/>
          </a:prstGeom>
          <a:solidFill>
            <a:srgbClr val="141F33"/>
          </a:solidFill>
          <a:ln w="27940">
            <a:solidFill>
              <a:srgbClr val="9FB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1828800"/>
            <a:ext cx="67665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4F7FB"/>
                </a:solidFill>
                <a:latin typeface="Yu Gothic"/>
              </a:defRPr>
            </a:pPr>
            <a:r>
              <a:t>M3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514600"/>
            <a:ext cx="1325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9FB0C7"/>
                </a:solidFill>
                <a:latin typeface="Yu Gothic"/>
              </a:defRPr>
            </a:pPr>
            <a:r>
              <a:t>IR / Runtime</a:t>
            </a:r>
          </a:p>
        </p:txBody>
      </p:sp>
      <p:sp>
        <p:nvSpPr>
          <p:cNvPr id="15" name="Oval 14"/>
          <p:cNvSpPr/>
          <p:nvPr/>
        </p:nvSpPr>
        <p:spPr>
          <a:xfrm>
            <a:off x="7452360" y="1627632"/>
            <a:ext cx="768096" cy="768096"/>
          </a:xfrm>
          <a:prstGeom prst="ellipse">
            <a:avLst/>
          </a:prstGeom>
          <a:solidFill>
            <a:srgbClr val="141F33"/>
          </a:solidFill>
          <a:ln w="27940">
            <a:solidFill>
              <a:srgbClr val="9FB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1828800"/>
            <a:ext cx="67665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4F7FB"/>
                </a:solidFill>
                <a:latin typeface="Yu Gothic"/>
              </a:defRPr>
            </a:pPr>
            <a:r>
              <a:t>M4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514600"/>
            <a:ext cx="1325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9FB0C7"/>
                </a:solidFill>
                <a:latin typeface="Yu Gothic"/>
              </a:defRPr>
            </a:pPr>
            <a:r>
              <a:t>Time / Parallel</a:t>
            </a:r>
          </a:p>
        </p:txBody>
      </p:sp>
      <p:sp>
        <p:nvSpPr>
          <p:cNvPr id="18" name="Oval 17"/>
          <p:cNvSpPr/>
          <p:nvPr/>
        </p:nvSpPr>
        <p:spPr>
          <a:xfrm>
            <a:off x="9692640" y="1627632"/>
            <a:ext cx="768096" cy="768096"/>
          </a:xfrm>
          <a:prstGeom prst="ellipse">
            <a:avLst/>
          </a:prstGeom>
          <a:solidFill>
            <a:srgbClr val="141F33"/>
          </a:solidFill>
          <a:ln w="27940">
            <a:solidFill>
              <a:srgbClr val="9FB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1828800"/>
            <a:ext cx="67665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F4F7FB"/>
                </a:solidFill>
                <a:latin typeface="Yu Gothic"/>
              </a:defRPr>
            </a:pPr>
            <a:r>
              <a:t>M5+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2514600"/>
            <a:ext cx="1325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9FB0C7"/>
                </a:solidFill>
                <a:latin typeface="Yu Gothic"/>
              </a:defRPr>
            </a:pPr>
            <a:r>
              <a:t>MCP / Sandbox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154680"/>
            <a:ext cx="5257800" cy="201168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154680"/>
            <a:ext cx="64008" cy="2011680"/>
          </a:xfrm>
          <a:prstGeom prst="rect">
            <a:avLst/>
          </a:prstGeom>
          <a:solidFill>
            <a:srgbClr val="71E096"/>
          </a:solidFill>
          <a:ln w="1270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3300984"/>
            <a:ext cx="492861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F4F7FB"/>
                </a:solidFill>
                <a:latin typeface="Yu Gothic"/>
              </a:defRPr>
            </a:pPr>
            <a:r>
              <a:t>実装済み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721608"/>
            <a:ext cx="4928616" cy="1316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0">
                <a:solidFill>
                  <a:srgbClr val="9FB0C7"/>
                </a:solidFill>
                <a:latin typeface="Yu Gothic"/>
              </a:defRPr>
            </a:pPr>
            <a:r>
              <a:rPr/>
              <a:t>構文・静的検査・情報フロー（E2xx/E3xx）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300" b="0">
                <a:solidFill>
                  <a:srgbClr val="9FB0C7"/>
                </a:solidFill>
                <a:latin typeface="Yu Gothic"/>
              </a:defRPr>
            </a:pPr>
            <a:r>
              <a:rPr/>
              <a:t>delta cycle 実行・timer・parallel・budget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300" b="0">
                <a:solidFill>
                  <a:srgbClr val="9FB0C7"/>
                </a:solidFill>
                <a:latin typeface="Yu Gothic"/>
              </a:defRPr>
            </a:pPr>
            <a:r>
              <a:rPr/>
              <a:t>MCP stdio・Effect・承認・capability・監査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3154680"/>
            <a:ext cx="5257800" cy="201168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3154680"/>
            <a:ext cx="64008" cy="201168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300984"/>
            <a:ext cx="492861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F4F7FB"/>
                </a:solidFill>
                <a:latin typeface="Yu Gothic"/>
              </a:defRPr>
            </a:pPr>
            <a:r>
              <a:t>まだ未実装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721608"/>
            <a:ext cx="4928616" cy="1316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0">
                <a:solidFill>
                  <a:srgbClr val="9FB0C7"/>
                </a:solidFill>
                <a:latin typeface="Yu Gothic"/>
              </a:defRPr>
            </a:pPr>
            <a:r>
              <a:rPr/>
              <a:t>Event 宣言・完了条件の構文・FSM・await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1300" b="0">
                <a:solidFill>
                  <a:srgbClr val="9FB0C7"/>
                </a:solidFill>
                <a:latin typeface="Yu Gothic"/>
              </a:defRPr>
            </a:pPr>
            <a:r>
              <a:rPr/>
              <a:t>declassifier・cloud DLP・HTTP MCP・sandbox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916168"/>
            <a:ext cx="10972800" cy="43891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C5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980176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6D9C7"/>
                </a:solidFill>
                <a:latin typeface="Yu Gothic"/>
              </a:defRPr>
            </a:pPr>
            <a:r>
              <a:rPr/>
              <a:t>仕様の将来像と、現在動く範囲（PROFILE_v0.1）を明確に分離して公開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65471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6D9C7"/>
                </a:solidFill>
                <a:latin typeface="Yu Gothic"/>
              </a:defRPr>
            </a:pPr>
            <a:r>
              <a:t>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500" b="1">
                <a:solidFill>
                  <a:srgbClr val="F4F7FB"/>
                </a:solidFill>
                <a:latin typeface="Yu Gothic"/>
              </a:defRPr>
            </a:pPr>
            <a:r>
              <a:t>想定するユースケース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143000"/>
            <a:ext cx="10972800" cy="0"/>
          </a:xfrm>
          <a:prstGeom prst="line">
            <a:avLst/>
          </a:prstGeom>
          <a:ln w="15240">
            <a:solidFill>
              <a:srgbClr val="26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417320"/>
            <a:ext cx="5321808" cy="1572768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000" b="1">
                <a:solidFill>
                  <a:srgbClr val="5AA9FF"/>
                </a:solidFill>
                <a:latin typeface="Yu Gothi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581912"/>
            <a:ext cx="4069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F4F7FB"/>
                </a:solidFill>
                <a:latin typeface="Yu Gothic"/>
              </a:defRPr>
            </a:pPr>
            <a:r>
              <a:t>コード生成ループ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139696"/>
            <a:ext cx="4069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9FB0C7"/>
                </a:solidFill>
                <a:latin typeface="Yu Gothic"/>
              </a:defRPr>
            </a:pPr>
            <a:r>
              <a:t>生成 → build → test → review → 修正</a:t>
            </a:r>
          </a:p>
        </p:txBody>
      </p:sp>
      <p:sp>
        <p:nvSpPr>
          <p:cNvPr id="9" name="Rectangle 8"/>
          <p:cNvSpPr/>
          <p:nvPr/>
        </p:nvSpPr>
        <p:spPr>
          <a:xfrm>
            <a:off x="1572768" y="2679191"/>
            <a:ext cx="2834640" cy="45720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9632" y="1417320"/>
            <a:ext cx="5321808" cy="1572768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58191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000" b="1">
                <a:solidFill>
                  <a:srgbClr val="26D9C7"/>
                </a:solidFill>
                <a:latin typeface="Yu Gothic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2" y="1581912"/>
            <a:ext cx="4069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F4F7FB"/>
                </a:solidFill>
                <a:latin typeface="Yu Gothic"/>
              </a:defRPr>
            </a:pPr>
            <a:r>
              <a:t>調査・検証ループ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4032" y="2139696"/>
            <a:ext cx="4069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9FB0C7"/>
                </a:solidFill>
                <a:latin typeface="Yu Gothic"/>
              </a:defRPr>
            </a:pPr>
            <a:r>
              <a:t>複数検索AI → 出典照合 → judge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14032" y="2679191"/>
            <a:ext cx="2834640" cy="45720"/>
          </a:xfrm>
          <a:prstGeom prst="rect">
            <a:avLst/>
          </a:prstGeom>
          <a:solidFill>
            <a:srgbClr val="26D9C7"/>
          </a:solidFill>
          <a:ln w="1270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3429000"/>
            <a:ext cx="5321808" cy="1572768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59359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000" b="1">
                <a:solidFill>
                  <a:srgbClr val="AE8BFF"/>
                </a:solidFill>
                <a:latin typeface="Yu Gothi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593592"/>
            <a:ext cx="4069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F4F7FB"/>
                </a:solidFill>
                <a:latin typeface="Yu Gothic"/>
              </a:defRPr>
            </a:pPr>
            <a:r>
              <a:t>形式証明ループ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151376"/>
            <a:ext cx="4069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9FB0C7"/>
                </a:solidFill>
                <a:latin typeface="Yu Gothic"/>
              </a:defRPr>
            </a:pPr>
            <a:r>
              <a:t>候補生成 → Lean/Prolog → 反例修正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72768" y="4690872"/>
            <a:ext cx="2834640" cy="45720"/>
          </a:xfrm>
          <a:prstGeom prst="rect">
            <a:avLst/>
          </a:prstGeom>
          <a:solidFill>
            <a:srgbClr val="AE8BFF"/>
          </a:solidFill>
          <a:ln w="12700">
            <a:solidFill>
              <a:srgbClr val="AE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99632" y="3429000"/>
            <a:ext cx="5321808" cy="1572768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26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359359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000" b="1">
                <a:solidFill>
                  <a:srgbClr val="FFB454"/>
                </a:solidFill>
                <a:latin typeface="Yu Gothic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3593592"/>
            <a:ext cx="4069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F4F7FB"/>
                </a:solidFill>
                <a:latin typeface="Yu Gothic"/>
              </a:defRPr>
            </a:pPr>
            <a:r>
              <a:t>工学ツール連携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4151376"/>
            <a:ext cx="4069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9FB0C7"/>
                </a:solidFill>
                <a:latin typeface="Yu Gothic"/>
              </a:defRPr>
            </a:pPr>
            <a:r>
              <a:t>simulation / MATLAB / testをMCPで統合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14032" y="4690872"/>
            <a:ext cx="2834640" cy="4572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5916168"/>
            <a:ext cx="10972800" cy="438912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1C5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980176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6D9C7"/>
                </a:solidFill>
                <a:latin typeface="Yu Gothic"/>
              </a:defRPr>
            </a:pPr>
            <a:r>
              <a:t>ローカル処理を基本に、必要な箇所だけクラウドAIへ安全に接続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65471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30352"/>
            <a:ext cx="1463040" cy="310896"/>
          </a:xfrm>
          <a:prstGeom prst="roundRect">
            <a:avLst/>
          </a:prstGeom>
          <a:solidFill>
            <a:srgbClr val="192840"/>
          </a:solidFill>
          <a:ln w="12700">
            <a:solidFill>
              <a:srgbClr val="71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39496"/>
            <a:ext cx="146304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71E096"/>
                </a:solidFill>
                <a:latin typeface="Yu Gothic"/>
              </a:defRPr>
            </a:pPr>
            <a:r>
              <a:t>OPEN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77724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3400" b="1">
                <a:solidFill>
                  <a:srgbClr val="F4F7FB"/>
                </a:solidFill>
                <a:latin typeface="Yu Gothic"/>
              </a:defRPr>
            </a:pPr>
            <a:r>
              <a:t>ループを、工学の対象に。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121408"/>
            <a:ext cx="7498079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26D9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017520"/>
            <a:ext cx="685800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000" b="1">
                <a:solidFill>
                  <a:srgbClr val="F4F7FB"/>
                </a:solidFill>
                <a:latin typeface="Yu Gothic"/>
              </a:defRPr>
            </a:pPr>
            <a:r>
              <a:t>複数AI・MCP・ツール・人間を、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2000" b="1">
                <a:solidFill>
                  <a:srgbClr val="F4F7FB"/>
                </a:solidFill>
                <a:latin typeface="Yu Gothic"/>
              </a:defRPr>
            </a:pPr>
            <a:r>
              <a:t>検査可能で安全な反復システムとして記述する。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4663440"/>
            <a:ext cx="68580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9FB0C7"/>
                </a:solidFill>
                <a:latin typeface="Yu Gothic"/>
              </a:defRPr>
            </a:pPr>
            <a:r>
              <a:rPr/>
              <a:t>Public draft v0.2  |  Rust 実装: v0.1 Profile</a:t>
            </a:r>
          </a:p>
        </p:txBody>
      </p:sp>
      <p:pic>
        <p:nvPicPr>
          <p:cNvPr id="8" name="Picture 7" descr="awhdl-repo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512" y="1234440"/>
            <a:ext cx="2240280" cy="2240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79" y="3794760"/>
            <a:ext cx="3657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1">
                <a:solidFill>
                  <a:srgbClr val="F4F7FB"/>
                </a:solidFill>
                <a:latin typeface="Yu Gothic"/>
              </a:defRPr>
            </a:pPr>
            <a:r>
              <a:rPr>
                <a:hlinkClick r:id="rId3"/>
              </a:rPr>
              <a:t>github.com/JO3ALT/awhdl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251960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9FB0C7"/>
                </a:solidFill>
                <a:latin typeface="Yu Gothic"/>
              </a:defRPr>
            </a:pPr>
            <a:r>
              <a:t>仕様・実装・日本語ドキュメントを公開中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806440"/>
            <a:ext cx="10881360" cy="457200"/>
          </a:xfrm>
          <a:prstGeom prst="roundRect">
            <a:avLst/>
          </a:prstGeom>
          <a:solidFill>
            <a:srgbClr val="10283A"/>
          </a:solidFill>
          <a:ln w="12700">
            <a:solidFill>
              <a:srgbClr val="26D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5907024"/>
            <a:ext cx="10515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1">
                <a:solidFill>
                  <a:srgbClr val="26D9C7"/>
                </a:solidFill>
                <a:latin typeface="Yu Gothic"/>
              </a:defRPr>
            </a:pPr>
            <a:r>
              <a:t>H = Harness, not Hardware.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547104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AWHDL — Agentic Workflow Harness Description Language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800" b="0">
                <a:solidFill>
                  <a:srgbClr val="9FB0C7"/>
                </a:solidFill>
                <a:latin typeface="Yu Gothic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AWHDLシステム紹介</dc:title>
  <dc:subject>Agentic Workflow Harness Description Language</dc:subject>
  <dc:creator>JO3ALT</dc:creator>
  <cp:keywords>AWHDL, AI Conductor, MCP, Loop Engineering</cp:keywords>
  <dc:description>Japanese normative project overview; public draft v0.2 / prototype Milestone 1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