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JO3ALT/awhd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30352"/>
            <a:ext cx="2011680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9496"/>
            <a:ext cx="2011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5AA9FF"/>
                </a:solidFill>
                <a:latin typeface="Yu Gothic"/>
              </a:defRPr>
            </a:pPr>
            <a:r>
              <a:t>DETAILED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685800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400" b="1">
                <a:solidFill>
                  <a:srgbClr val="F4F7FB"/>
                </a:solidFill>
                <a:latin typeface="Yu Gothic"/>
              </a:defRPr>
            </a:pPr>
            <a:r>
              <a:t>AI Conductor全体と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3400" b="1">
                <a:solidFill>
                  <a:srgbClr val="F4F7FB"/>
                </a:solidFill>
                <a:latin typeface="Yu Gothic"/>
              </a:defRPr>
            </a:pPr>
            <a:r>
              <a:t>AWHDLループの構成要素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633472"/>
            <a:ext cx="6492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26D9C7"/>
                </a:solidFill>
                <a:latin typeface="Yu Gothic"/>
              </a:defRPr>
            </a:pPr>
            <a:r>
              <a:t>System Architecture &amp; Loop Anatomy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493008"/>
            <a:ext cx="598932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900" b="1">
                <a:solidFill>
                  <a:srgbClr val="F4F7FB"/>
                </a:solidFill>
                <a:latin typeface="Yu Gothic"/>
              </a:defRPr>
            </a:pPr>
            <a:r>
              <a:t>記述 → 静的検査 → 実行制御 → 検証 →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900" b="1">
                <a:solidFill>
                  <a:srgbClr val="F4F7FB"/>
                </a:solidFill>
                <a:latin typeface="Yu Gothic"/>
              </a:defRPr>
            </a:pPr>
            <a:r>
              <a:t>フィードバック → 停止・承認・監査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92040"/>
            <a:ext cx="5212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rPr/>
              <a:t>AWHDL public draft v0.2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rPr/>
              <a:t>実装: v0.1 Profile（2026-09）</a:t>
            </a:r>
          </a:p>
        </p:txBody>
      </p:sp>
      <p:sp>
        <p:nvSpPr>
          <p:cNvPr id="8" name="Oval 7"/>
          <p:cNvSpPr/>
          <p:nvPr/>
        </p:nvSpPr>
        <p:spPr>
          <a:xfrm>
            <a:off x="8275320" y="1143000"/>
            <a:ext cx="3154680" cy="3154680"/>
          </a:xfrm>
          <a:prstGeom prst="ellipse">
            <a:avLst/>
          </a:prstGeom>
          <a:solidFill>
            <a:srgbClr val="101B2B"/>
          </a:solidFill>
          <a:ln w="2794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32520" y="1600200"/>
            <a:ext cx="2240280" cy="2240280"/>
          </a:xfrm>
          <a:prstGeom prst="ellipse">
            <a:avLst/>
          </a:prstGeom>
          <a:solidFill>
            <a:srgbClr val="10283A"/>
          </a:solidFill>
          <a:ln w="2794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81160" y="2148840"/>
            <a:ext cx="1143000" cy="1143000"/>
          </a:xfrm>
          <a:prstGeom prst="ellipse">
            <a:avLst/>
          </a:prstGeom>
          <a:solidFill>
            <a:srgbClr val="192840"/>
          </a:solidFill>
          <a:ln w="2794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1298448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5AA9FF"/>
                </a:solidFill>
                <a:latin typeface="Yu Gothic"/>
              </a:defRPr>
            </a:pPr>
            <a:r>
              <a:t>AI Conductor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181051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6D9C7"/>
                </a:solidFill>
                <a:latin typeface="Yu Gothic"/>
              </a:defRPr>
            </a:pPr>
            <a:r>
              <a:t>AWHDL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253288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LOOP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4846320"/>
            <a:ext cx="777240" cy="777240"/>
          </a:xfrm>
          <a:prstGeom prst="ellipse">
            <a:avLst/>
          </a:prstGeom>
          <a:solidFill>
            <a:srgbClr val="141F33"/>
          </a:solidFill>
          <a:ln w="2286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2984" y="5111496"/>
            <a:ext cx="6675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900" b="1">
                <a:solidFill>
                  <a:srgbClr val="F4F7FB"/>
                </a:solidFill>
                <a:latin typeface="Yu Gothic"/>
              </a:defRPr>
            </a:pPr>
            <a:r>
              <a:t>Policy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0" y="5166360"/>
            <a:ext cx="777240" cy="777240"/>
          </a:xfrm>
          <a:prstGeom prst="ellipse">
            <a:avLst/>
          </a:prstGeom>
          <a:solidFill>
            <a:srgbClr val="141F33"/>
          </a:solidFill>
          <a:ln w="2286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4" y="5431536"/>
            <a:ext cx="6675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900" b="1">
                <a:solidFill>
                  <a:srgbClr val="F4F7FB"/>
                </a:solidFill>
                <a:latin typeface="Yu Gothic"/>
              </a:defRPr>
            </a:pPr>
            <a:r>
              <a:t>Runtime</a:t>
            </a:r>
          </a:p>
        </p:txBody>
      </p:sp>
      <p:sp>
        <p:nvSpPr>
          <p:cNvPr id="18" name="Oval 17"/>
          <p:cNvSpPr/>
          <p:nvPr/>
        </p:nvSpPr>
        <p:spPr>
          <a:xfrm>
            <a:off x="10835640" y="4709160"/>
            <a:ext cx="777240" cy="777240"/>
          </a:xfrm>
          <a:prstGeom prst="ellipse">
            <a:avLst/>
          </a:prstGeom>
          <a:solidFill>
            <a:srgbClr val="141F33"/>
          </a:solidFill>
          <a:ln w="2286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90504" y="4974336"/>
            <a:ext cx="6675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900" b="1">
                <a:solidFill>
                  <a:srgbClr val="F4F7FB"/>
                </a:solidFill>
                <a:latin typeface="Yu Gothic"/>
              </a:defRPr>
            </a:pPr>
            <a:r>
              <a:t>Devices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016752"/>
            <a:ext cx="4937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JO3ALT  |  github.com/JO3ALT/awhdl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『システム全体』と『ループ』を分けて見る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389888"/>
            <a:ext cx="5230368" cy="422452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89888"/>
            <a:ext cx="64008" cy="422452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36192"/>
            <a:ext cx="4901183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F4F7FB"/>
                </a:solidFill>
                <a:latin typeface="Yu Gothic"/>
              </a:defRPr>
            </a:pPr>
            <a:r>
              <a:t>AI Conductor — システム全体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56816"/>
            <a:ext cx="4901183" cy="3529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AWHDL compiler / checker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Event runtime / scheduler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Policy / sandbox / cloud gateway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Device adapters / audit / workspace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cvim / CLI /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389888"/>
            <a:ext cx="5230368" cy="422452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2" y="1389888"/>
            <a:ext cx="64008" cy="4224528"/>
          </a:xfrm>
          <a:prstGeom prst="rect">
            <a:avLst/>
          </a:prstGeom>
          <a:solidFill>
            <a:srgbClr val="26D9C7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36192"/>
            <a:ext cx="4901183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F4F7FB"/>
                </a:solidFill>
                <a:latin typeface="Yu Gothic"/>
              </a:defRPr>
            </a:pPr>
            <a:r>
              <a:t>AWHDL Loop — 設計された反復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56816"/>
            <a:ext cx="4901183" cy="3529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入力・状態・signal / event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AI / MCP / deterministic tool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parallel / barrier / timeout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judge / assertion / completion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feedback / retry / budget</a:t>
            </a:r>
          </a:p>
        </p:txBody>
      </p:sp>
      <p:sp>
        <p:nvSpPr>
          <p:cNvPr id="13" name="Chevron 12"/>
          <p:cNvSpPr/>
          <p:nvPr/>
        </p:nvSpPr>
        <p:spPr>
          <a:xfrm>
            <a:off x="5934456" y="3273552"/>
            <a:ext cx="256032" cy="457200"/>
          </a:xfrm>
          <a:prstGeom prst="chevron">
            <a:avLst/>
          </a:prstGeom>
          <a:solidFill>
            <a:srgbClr val="71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システムがループを解釈・制御し、ループが仕事の構造を宣言する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SYSTEM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AI Conductor：システム全体の層構造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371600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操作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874519" cy="2944368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21284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Vim / cvim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62072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971800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21024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730752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AWHDL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371600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コンパイル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1783080"/>
            <a:ext cx="1874519" cy="2944368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97480" y="2103120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0632" y="221284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Parser / 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862072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0632" y="2971800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Type checker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3621024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0632" y="3730752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Policy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371600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実行中核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783080"/>
            <a:ext cx="1874519" cy="2944368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00600" y="2103120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3752" y="221284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Versioned IR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2862072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3752" y="2971800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Event runtime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3621024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3752" y="3730752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Scheduler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371600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強制境界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1783080"/>
            <a:ext cx="1874519" cy="2944368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95160" y="2103120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8312" y="221284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Sandbox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2862072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68312" y="2971800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Cloud gateway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95160" y="3621024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68312" y="3730752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Workspace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1371600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実行主体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840" y="1783080"/>
            <a:ext cx="1874519" cy="2944368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89719" y="2103120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62872" y="221284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Local AI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19" y="2862072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2872" y="2971800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MCP / Tools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19" y="3621024"/>
            <a:ext cx="1508760" cy="493776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62872" y="3730752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Cloud / Human</a:t>
            </a:r>
          </a:p>
        </p:txBody>
      </p:sp>
      <p:sp>
        <p:nvSpPr>
          <p:cNvPr id="45" name="Chevron 44"/>
          <p:cNvSpPr/>
          <p:nvPr/>
        </p:nvSpPr>
        <p:spPr>
          <a:xfrm>
            <a:off x="2194560" y="2999232"/>
            <a:ext cx="237744" cy="384048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vron 45"/>
          <p:cNvSpPr/>
          <p:nvPr/>
        </p:nvSpPr>
        <p:spPr>
          <a:xfrm>
            <a:off x="4297680" y="2999232"/>
            <a:ext cx="237744" cy="384048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vron 46"/>
          <p:cNvSpPr/>
          <p:nvPr/>
        </p:nvSpPr>
        <p:spPr>
          <a:xfrm>
            <a:off x="6492240" y="2999232"/>
            <a:ext cx="237744" cy="384048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vron 47"/>
          <p:cNvSpPr/>
          <p:nvPr/>
        </p:nvSpPr>
        <p:spPr>
          <a:xfrm>
            <a:off x="8686800" y="2999232"/>
            <a:ext cx="237744" cy="384048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5840" y="5074920"/>
            <a:ext cx="9966960" cy="53035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212080"/>
            <a:ext cx="9692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6D9C7"/>
                </a:solidFill>
                <a:latin typeface="Yu Gothic"/>
              </a:defRPr>
            </a:pPr>
            <a:r>
              <a:t>横断機能：Policy  |  Budget  |  Audit  |  Checkpoint  |  Cancellation  |  Provenance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LLMやMCPは部品。信頼済み制御は中央のruntimeとpolicyが担う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AWHDLソースから実行・監査まで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14983" y="1508760"/>
            <a:ext cx="658368" cy="658368"/>
          </a:xfrm>
          <a:prstGeom prst="ellipse">
            <a:avLst/>
          </a:prstGeom>
          <a:solidFill>
            <a:srgbClr val="141F33"/>
          </a:solidFill>
          <a:ln w="254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719072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359152"/>
            <a:ext cx="18105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5AA9FF"/>
                </a:solidFill>
                <a:latin typeface="Yu Gothic"/>
              </a:defRPr>
            </a:pPr>
            <a:r>
              <a:t>記述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788920"/>
            <a:ext cx="18105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entity / architecture</a:t>
            </a:r>
          </a:p>
        </p:txBody>
      </p:sp>
      <p:sp>
        <p:nvSpPr>
          <p:cNvPr id="9" name="Chevron 8"/>
          <p:cNvSpPr/>
          <p:nvPr/>
        </p:nvSpPr>
        <p:spPr>
          <a:xfrm>
            <a:off x="2139696" y="1673352"/>
            <a:ext cx="210312" cy="347472"/>
          </a:xfrm>
          <a:prstGeom prst="chevron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62656" y="1508760"/>
            <a:ext cx="658368" cy="658368"/>
          </a:xfrm>
          <a:prstGeom prst="ellipse">
            <a:avLst/>
          </a:prstGeom>
          <a:solidFill>
            <a:srgbClr val="141F33"/>
          </a:solidFill>
          <a:ln w="254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8376" y="1719072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6584" y="2359152"/>
            <a:ext cx="18105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26D9C7"/>
                </a:solidFill>
                <a:latin typeface="Yu Gothic"/>
              </a:defRPr>
            </a:pPr>
            <a:r>
              <a:t>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2788920"/>
            <a:ext cx="18105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Parser → AST</a:t>
            </a:r>
          </a:p>
        </p:txBody>
      </p:sp>
      <p:sp>
        <p:nvSpPr>
          <p:cNvPr id="14" name="Chevron 13"/>
          <p:cNvSpPr/>
          <p:nvPr/>
        </p:nvSpPr>
        <p:spPr>
          <a:xfrm>
            <a:off x="4087368" y="1673352"/>
            <a:ext cx="210312" cy="347472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10328" y="1508760"/>
            <a:ext cx="658368" cy="658368"/>
          </a:xfrm>
          <a:prstGeom prst="ellipse">
            <a:avLst/>
          </a:prstGeom>
          <a:solidFill>
            <a:srgbClr val="141F33"/>
          </a:solidFill>
          <a:ln w="254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719072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359152"/>
            <a:ext cx="18105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F6B7A"/>
                </a:solidFill>
                <a:latin typeface="Yu Gothic"/>
              </a:defRPr>
            </a:pPr>
            <a:r>
              <a:t>静的検査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788920"/>
            <a:ext cx="18105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型・情報流・能力</a:t>
            </a:r>
          </a:p>
        </p:txBody>
      </p:sp>
      <p:sp>
        <p:nvSpPr>
          <p:cNvPr id="19" name="Chevron 18"/>
          <p:cNvSpPr/>
          <p:nvPr/>
        </p:nvSpPr>
        <p:spPr>
          <a:xfrm>
            <a:off x="6035040" y="1673352"/>
            <a:ext cx="210312" cy="347472"/>
          </a:xfrm>
          <a:prstGeom prst="chevron">
            <a:avLst/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7999" y="1508760"/>
            <a:ext cx="658368" cy="658368"/>
          </a:xfrm>
          <a:prstGeom prst="ellipse">
            <a:avLst/>
          </a:prstGeom>
          <a:solidFill>
            <a:srgbClr val="141F33"/>
          </a:solidFill>
          <a:ln w="254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19" y="1719072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7" y="2359152"/>
            <a:ext cx="18105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71E096"/>
                </a:solidFill>
                <a:latin typeface="Yu Gothic"/>
              </a:defRPr>
            </a:pPr>
            <a:r>
              <a:t>合成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7" y="2788920"/>
            <a:ext cx="18105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Versioned IR</a:t>
            </a:r>
          </a:p>
        </p:txBody>
      </p:sp>
      <p:sp>
        <p:nvSpPr>
          <p:cNvPr id="24" name="Chevron 23"/>
          <p:cNvSpPr/>
          <p:nvPr/>
        </p:nvSpPr>
        <p:spPr>
          <a:xfrm>
            <a:off x="7982711" y="1673352"/>
            <a:ext cx="210312" cy="347472"/>
          </a:xfrm>
          <a:prstGeom prst="chevron">
            <a:avLst/>
          </a:prstGeom>
          <a:solidFill>
            <a:srgbClr val="71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05672" y="1508760"/>
            <a:ext cx="658368" cy="658368"/>
          </a:xfrm>
          <a:prstGeom prst="ellipse">
            <a:avLst/>
          </a:prstGeom>
          <a:solidFill>
            <a:srgbClr val="141F33"/>
          </a:solidFill>
          <a:ln w="254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51392" y="1719072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359152"/>
            <a:ext cx="18105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AE8BFF"/>
                </a:solidFill>
                <a:latin typeface="Yu Gothic"/>
              </a:defRPr>
            </a:pPr>
            <a:r>
              <a:t>実行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788920"/>
            <a:ext cx="18105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Event runtime</a:t>
            </a:r>
          </a:p>
        </p:txBody>
      </p:sp>
      <p:sp>
        <p:nvSpPr>
          <p:cNvPr id="29" name="Chevron 28"/>
          <p:cNvSpPr/>
          <p:nvPr/>
        </p:nvSpPr>
        <p:spPr>
          <a:xfrm>
            <a:off x="9930384" y="1673352"/>
            <a:ext cx="210312" cy="347472"/>
          </a:xfrm>
          <a:prstGeom prst="chevron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53344" y="1508760"/>
            <a:ext cx="658368" cy="658368"/>
          </a:xfrm>
          <a:prstGeom prst="ellipse">
            <a:avLst/>
          </a:prstGeom>
          <a:solidFill>
            <a:srgbClr val="141F33"/>
          </a:solidFill>
          <a:ln w="254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99063" y="1719072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7272" y="2359152"/>
            <a:ext cx="18105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FB454"/>
                </a:solidFill>
                <a:latin typeface="Yu Gothic"/>
              </a:defRPr>
            </a:pPr>
            <a:r>
              <a:t>証拠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7272" y="2788920"/>
            <a:ext cx="18105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Audit / trace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840480"/>
            <a:ext cx="3246120" cy="13258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3840480"/>
            <a:ext cx="64008" cy="132588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3986784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設計時に止める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" y="4407408"/>
            <a:ext cx="2916936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構文、型、port、明白な情報流違反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60" y="3840480"/>
            <a:ext cx="3246120" cy="13258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80560" y="3840480"/>
            <a:ext cx="64008" cy="132588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3986784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実行時に強制する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4407408"/>
            <a:ext cx="2916936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budget、timeout、gateway、sandbox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75320" y="3840480"/>
            <a:ext cx="3246120" cy="13258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20" y="3840480"/>
            <a:ext cx="64008" cy="1325880"/>
          </a:xfrm>
          <a:prstGeom prst="rect">
            <a:avLst/>
          </a:prstGeom>
          <a:solidFill>
            <a:srgbClr val="71E096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76488" y="3986784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次の改善へ戻す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76488" y="4407408"/>
            <a:ext cx="2916936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trace、失敗理由、判定、資源消費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静的検査だけにも、プロンプトだけにも安全性を依存しない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LOOP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1つのループを成立させる8つの部品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681728" y="1828800"/>
            <a:ext cx="2788920" cy="2788920"/>
          </a:xfrm>
          <a:prstGeom prst="ellipse">
            <a:avLst/>
          </a:prstGeom>
          <a:solidFill>
            <a:srgbClr val="10283A"/>
          </a:solidFill>
          <a:ln w="3175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80" y="2606040"/>
            <a:ext cx="2148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F4F7FB"/>
                </a:solidFill>
                <a:latin typeface="Yu Gothic"/>
              </a:defRPr>
            </a:pPr>
            <a:r>
              <a:t>ENGINEERED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7488" y="3063240"/>
            <a:ext cx="2011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6D9C7"/>
                </a:solidFill>
                <a:latin typeface="Yu Gothic"/>
              </a:defRPr>
            </a:pPr>
            <a:r>
              <a:t>検査可能な</a:t>
            </a:r>
          </a:p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6D9C7"/>
                </a:solidFill>
                <a:latin typeface="Yu Gothic"/>
              </a:defRPr>
            </a:pPr>
            <a:r>
              <a:t>反復構造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233172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64008" cy="84124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472184"/>
            <a:ext cx="2002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入力 / 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92807"/>
            <a:ext cx="20025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外部との契約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39" y="1746504"/>
            <a:ext cx="1874521" cy="1453896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743200"/>
            <a:ext cx="233172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743200"/>
            <a:ext cx="64008" cy="841248"/>
          </a:xfrm>
          <a:prstGeom prst="rect">
            <a:avLst/>
          </a:prstGeom>
          <a:solidFill>
            <a:srgbClr val="26D9C7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889504"/>
            <a:ext cx="2002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Signal /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310128"/>
            <a:ext cx="20025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値と記憶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34639" y="3163824"/>
            <a:ext cx="1874521" cy="36576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4160520"/>
            <a:ext cx="233172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64008" cy="841248"/>
          </a:xfrm>
          <a:prstGeom prst="rect">
            <a:avLst/>
          </a:prstGeom>
          <a:solidFill>
            <a:srgbClr val="71E096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306824"/>
            <a:ext cx="2002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Event /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727448"/>
            <a:ext cx="20025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起動と動作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834639" y="3200400"/>
            <a:ext cx="1874521" cy="1380744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72600" y="1325880"/>
            <a:ext cx="233172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72600" y="1325880"/>
            <a:ext cx="64008" cy="841248"/>
          </a:xfrm>
          <a:prstGeom prst="rect">
            <a:avLst/>
          </a:prstGeom>
          <a:solidFill>
            <a:srgbClr val="AE8BFF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3768" y="1472184"/>
            <a:ext cx="2002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8" y="1892807"/>
            <a:ext cx="20025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AI・MCP・人間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452360" y="1746504"/>
            <a:ext cx="1920240" cy="1453896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72600" y="2743200"/>
            <a:ext cx="233172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72600" y="2743200"/>
            <a:ext cx="64008" cy="841248"/>
          </a:xfrm>
          <a:prstGeom prst="rect">
            <a:avLst/>
          </a:prstGeom>
          <a:solidFill>
            <a:srgbClr val="71E096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73768" y="2889504"/>
            <a:ext cx="2002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Judge / Assert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3310128"/>
            <a:ext cx="20025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合否と安全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452360" y="3163824"/>
            <a:ext cx="1920240" cy="36576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372600" y="4160520"/>
            <a:ext cx="233172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72600" y="4160520"/>
            <a:ext cx="64008" cy="841248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73768" y="4306824"/>
            <a:ext cx="2002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Feedback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8" y="4727448"/>
            <a:ext cx="20025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診断と再試行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7452360" y="3200400"/>
            <a:ext cx="1920240" cy="1380744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767328" y="5074920"/>
            <a:ext cx="233172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67328" y="5074920"/>
            <a:ext cx="64008" cy="84124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68496" y="5221224"/>
            <a:ext cx="2002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Budget /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68496" y="5641848"/>
            <a:ext cx="20025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上限と停止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3767328" y="4434840"/>
            <a:ext cx="2313432" cy="1060704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510528" y="5074920"/>
            <a:ext cx="233172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10528" y="5074920"/>
            <a:ext cx="64008" cy="841248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11696" y="5221224"/>
            <a:ext cx="2002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Policy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11696" y="5641848"/>
            <a:ext cx="20025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権限と情報流</a:t>
            </a:r>
          </a:p>
        </p:txBody>
      </p:sp>
      <p:cxnSp>
        <p:nvCxnSpPr>
          <p:cNvPr id="47" name="Connector 46"/>
          <p:cNvCxnSpPr/>
          <p:nvPr/>
        </p:nvCxnSpPr>
        <p:spPr>
          <a:xfrm flipH="1" flipV="1">
            <a:off x="6080760" y="4434840"/>
            <a:ext cx="429768" cy="1060704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LANGUAGE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ループ部品をAWHDL構文へ写像する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325880"/>
            <a:ext cx="155448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26464"/>
            <a:ext cx="13716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外部契約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1417320"/>
            <a:ext cx="3337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5AA9FF"/>
                </a:solidFill>
                <a:latin typeface="Consolas"/>
              </a:defRPr>
            </a:pPr>
            <a:r>
              <a:t>entity /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417320"/>
            <a:ext cx="5212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入力・出力・型・機密区分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55448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3"/>
            <a:ext cx="13716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実行部品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057400"/>
            <a:ext cx="3337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AE8BFF"/>
                </a:solidFill>
                <a:latin typeface="Consolas"/>
              </a:defRPr>
            </a:pPr>
            <a:r>
              <a:t>device /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057400"/>
            <a:ext cx="5212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AI・MCP・人間と実装binding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39"/>
            <a:ext cx="155448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06623"/>
            <a:ext cx="13716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データ面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697479"/>
            <a:ext cx="3337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6D9C7"/>
                </a:solidFill>
                <a:latin typeface="Consolas"/>
              </a:defRPr>
            </a:pPr>
            <a:r>
              <a:t>signal / persistent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697479"/>
            <a:ext cx="5212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値・event・checkpoint対象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46120"/>
            <a:ext cx="155448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46703"/>
            <a:ext cx="13716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制御面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3337560"/>
            <a:ext cx="3337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1E096"/>
                </a:solidFill>
                <a:latin typeface="Consolas"/>
              </a:defRPr>
            </a:pPr>
            <a:r>
              <a:t>process / FSM / timer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337560"/>
            <a:ext cx="5212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起動・遷移・非同期動作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86200"/>
            <a:ext cx="155448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86784"/>
            <a:ext cx="13716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同期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3977639"/>
            <a:ext cx="3337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5AA9FF"/>
                </a:solidFill>
                <a:latin typeface="Consolas"/>
              </a:defRPr>
            </a:pPr>
            <a:r>
              <a:t>parallel / barrier / await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977639"/>
            <a:ext cx="5212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並行実行と合流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26280"/>
            <a:ext cx="155448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26864"/>
            <a:ext cx="13716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停止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4617720"/>
            <a:ext cx="3337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FB454"/>
                </a:solidFill>
                <a:latin typeface="Consolas"/>
              </a:defRPr>
            </a:pPr>
            <a:r>
              <a:t>budget / timeout / completion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617720"/>
            <a:ext cx="5212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資源上限・期限・完了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66359"/>
            <a:ext cx="155448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66944"/>
            <a:ext cx="13716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安全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5257799"/>
            <a:ext cx="3337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F6B7A"/>
                </a:solidFill>
                <a:latin typeface="Consolas"/>
              </a:defRPr>
            </a:pPr>
            <a:r>
              <a:t>policy / assert / declassify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5257799"/>
            <a:ext cx="5212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能力・情報流・不変条件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04288" y="1216152"/>
            <a:ext cx="0" cy="4562856"/>
          </a:xfrm>
          <a:prstGeom prst="line">
            <a:avLst/>
          </a:prstGeom>
          <a:ln w="1270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52160" y="1216152"/>
            <a:ext cx="0" cy="4562856"/>
          </a:xfrm>
          <a:prstGeom prst="line">
            <a:avLst/>
          </a:prstGeom>
          <a:ln w="1270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構文は、ループの構造・制御・停止・安全を別々に検査可能にする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Device：ループ内の実行主体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21792" y="1371600"/>
            <a:ext cx="3246120" cy="1627632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1325880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45336"/>
            <a:ext cx="13258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5AA9FF"/>
                </a:solidFill>
                <a:latin typeface="Yu Gothic"/>
              </a:defRPr>
            </a:pPr>
            <a: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0253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生成・推論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14015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候補を作る。制御主体ではない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3246120" cy="1627632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15968" y="1536192"/>
            <a:ext cx="1325880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545336"/>
            <a:ext cx="13258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AE8BFF"/>
                </a:solidFill>
                <a:latin typeface="Yu Gothic"/>
              </a:defRPr>
            </a:pPr>
            <a:r>
              <a:t>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00253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tool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414015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外部toolを共通interface化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1371600"/>
            <a:ext cx="3246120" cy="1627632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08976" y="1536192"/>
            <a:ext cx="1325880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6" y="1545336"/>
            <a:ext cx="13258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71E096"/>
                </a:solidFill>
                <a:latin typeface="Yu Gothic"/>
              </a:defRPr>
            </a:pPr>
            <a:r>
              <a:t>deterministic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6" y="200253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検証・判定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8976" y="2414015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compiler / test /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520440"/>
            <a:ext cx="3246120" cy="1627632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685032"/>
            <a:ext cx="1325880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94176"/>
            <a:ext cx="13258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B454"/>
                </a:solidFill>
                <a:latin typeface="Yu Gothic"/>
              </a:defRPr>
            </a:pPr>
            <a:r>
              <a:t>human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5137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承認・介入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56285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外部作用や例外判断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3520440"/>
            <a:ext cx="3246120" cy="1627632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15968" y="3685032"/>
            <a:ext cx="1325880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3694176"/>
            <a:ext cx="13258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6B7A"/>
                </a:solidFill>
                <a:latin typeface="Yu Gothic"/>
              </a:defRPr>
            </a:pPr>
            <a:r>
              <a:t>declassifier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15137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信頼済み変換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456285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明示条件で区分を低下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07808" y="3520440"/>
            <a:ext cx="3246120" cy="1627632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08976" y="3685032"/>
            <a:ext cx="1325880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08976" y="3694176"/>
            <a:ext cx="13258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external_service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08976" y="415137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外部system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8976" y="456285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gatewayとpolicy経由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すべてのdeviceは型・location・clearance・capabilityの制約を受ける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DATA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Signal / Port / State：ループのデータ面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2240280"/>
            <a:ext cx="150876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35000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Input 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606040"/>
            <a:ext cx="136245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task : text&lt;internal&gt;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240280"/>
            <a:ext cx="160020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2350008"/>
            <a:ext cx="1453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2606040"/>
            <a:ext cx="145389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candidate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240280"/>
            <a:ext cx="160020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2350008"/>
            <a:ext cx="1453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2606040"/>
            <a:ext cx="145389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AI /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240280"/>
            <a:ext cx="160020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2350008"/>
            <a:ext cx="1453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2606040"/>
            <a:ext cx="145389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240280"/>
            <a:ext cx="173736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1512" y="2350008"/>
            <a:ext cx="15910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Output 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1512" y="2606040"/>
            <a:ext cx="159105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report</a:t>
            </a:r>
          </a:p>
        </p:txBody>
      </p:sp>
      <p:sp>
        <p:nvSpPr>
          <p:cNvPr id="20" name="Chevron 19"/>
          <p:cNvSpPr/>
          <p:nvPr/>
        </p:nvSpPr>
        <p:spPr>
          <a:xfrm>
            <a:off x="2240280" y="2487168"/>
            <a:ext cx="274320" cy="365760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4553712" y="2487168"/>
            <a:ext cx="274320" cy="365760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6885432" y="2487168"/>
            <a:ext cx="274320" cy="365760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9217152" y="2487168"/>
            <a:ext cx="274320" cy="365760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794760"/>
            <a:ext cx="3246120" cy="12344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794760"/>
            <a:ext cx="64008" cy="123444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941064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Classification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361688"/>
            <a:ext cx="2916936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public &lt; internal &lt; confidential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&lt; restricted &lt; secret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62272" y="3794760"/>
            <a:ext cx="3246120" cy="12344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62272" y="3794760"/>
            <a:ext cx="64008" cy="1234440"/>
          </a:xfrm>
          <a:prstGeom prst="rect">
            <a:avLst/>
          </a:prstGeom>
          <a:solidFill>
            <a:srgbClr val="AE8BFF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941064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Taint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361688"/>
            <a:ext cx="2916936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派生値は最も強い入力区分を継承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794760"/>
            <a:ext cx="3246120" cy="12344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794760"/>
            <a:ext cx="64008" cy="1234440"/>
          </a:xfrm>
          <a:prstGeom prst="rect">
            <a:avLst/>
          </a:prstGeom>
          <a:solidFill>
            <a:srgbClr val="71E096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3941064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Provenance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4361688"/>
            <a:ext cx="2916936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source / transform / run IDを追跡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1371600"/>
            <a:ext cx="6583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F4F7FB"/>
                </a:solidFill>
                <a:latin typeface="Yu Gothic"/>
              </a:defRPr>
            </a:pPr>
            <a:r>
              <a:t>値には型だけでなく、扱える場所と来歴が伴う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ファイル名を変えても区分は下がらない。LLMの自己申告でも下がらない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CONTROL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Event / Process / FSM：ループの制御面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" y="1874519"/>
            <a:ext cx="1600200" cy="621792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984248"/>
            <a:ext cx="1453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Event Queue</a:t>
            </a:r>
          </a:p>
        </p:txBody>
      </p:sp>
      <p:sp>
        <p:nvSpPr>
          <p:cNvPr id="7" name="Chevron 6"/>
          <p:cNvSpPr/>
          <p:nvPr/>
        </p:nvSpPr>
        <p:spPr>
          <a:xfrm>
            <a:off x="2039112" y="2011680"/>
            <a:ext cx="210312" cy="347472"/>
          </a:xfrm>
          <a:prstGeom prst="chevron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31720" y="1874519"/>
            <a:ext cx="1600200" cy="621792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1984248"/>
            <a:ext cx="1453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Ready Process</a:t>
            </a:r>
          </a:p>
        </p:txBody>
      </p:sp>
      <p:sp>
        <p:nvSpPr>
          <p:cNvPr id="10" name="Chevron 9"/>
          <p:cNvSpPr/>
          <p:nvPr/>
        </p:nvSpPr>
        <p:spPr>
          <a:xfrm>
            <a:off x="4005072" y="2011680"/>
            <a:ext cx="210312" cy="347472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1600200" cy="621792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984248"/>
            <a:ext cx="1453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Evaluate</a:t>
            </a:r>
          </a:p>
        </p:txBody>
      </p:sp>
      <p:sp>
        <p:nvSpPr>
          <p:cNvPr id="13" name="Chevron 12"/>
          <p:cNvSpPr/>
          <p:nvPr/>
        </p:nvSpPr>
        <p:spPr>
          <a:xfrm>
            <a:off x="5971032" y="2011680"/>
            <a:ext cx="210312" cy="347472"/>
          </a:xfrm>
          <a:prstGeom prst="chevron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1600200" cy="621792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984248"/>
            <a:ext cx="1453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Stage Updates</a:t>
            </a:r>
          </a:p>
        </p:txBody>
      </p:sp>
      <p:sp>
        <p:nvSpPr>
          <p:cNvPr id="16" name="Chevron 15"/>
          <p:cNvSpPr/>
          <p:nvPr/>
        </p:nvSpPr>
        <p:spPr>
          <a:xfrm>
            <a:off x="7936992" y="2011680"/>
            <a:ext cx="210312" cy="347472"/>
          </a:xfrm>
          <a:prstGeom prst="chevron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874519"/>
            <a:ext cx="1600200" cy="621792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984248"/>
            <a:ext cx="1453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Commit Signals</a:t>
            </a:r>
          </a:p>
        </p:txBody>
      </p:sp>
      <p:sp>
        <p:nvSpPr>
          <p:cNvPr id="19" name="Chevron 18"/>
          <p:cNvSpPr/>
          <p:nvPr/>
        </p:nvSpPr>
        <p:spPr>
          <a:xfrm>
            <a:off x="9902952" y="2011680"/>
            <a:ext cx="210312" cy="347472"/>
          </a:xfrm>
          <a:prstGeom prst="chevron">
            <a:avLst/>
          </a:prstGeom>
          <a:solidFill>
            <a:srgbClr val="71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95560" y="1874519"/>
            <a:ext cx="1600200" cy="621792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8712" y="1984248"/>
            <a:ext cx="1453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New Events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097280" y="3063240"/>
            <a:ext cx="9555480" cy="0"/>
          </a:xfrm>
          <a:prstGeom prst="line">
            <a:avLst/>
          </a:prstGeom>
          <a:ln w="2286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804672" y="2889504"/>
            <a:ext cx="274320" cy="347472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3255264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次のデルタサイクル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977639"/>
            <a:ext cx="3246120" cy="12344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977639"/>
            <a:ext cx="64008" cy="1234440"/>
          </a:xfrm>
          <a:prstGeom prst="rect">
            <a:avLst/>
          </a:prstGeom>
          <a:solidFill>
            <a:srgbClr val="26D9C7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123944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544568"/>
            <a:ext cx="2916936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感度listのsignal/eventで起動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977639"/>
            <a:ext cx="3246120" cy="12344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60" y="3977639"/>
            <a:ext cx="64008" cy="1234440"/>
          </a:xfrm>
          <a:prstGeom prst="rect">
            <a:avLst/>
          </a:prstGeom>
          <a:solidFill>
            <a:srgbClr val="AE8BFF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4123944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FSM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544568"/>
            <a:ext cx="2916936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state + caseで明示的に遷移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3977639"/>
            <a:ext cx="3246120" cy="12344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79" y="3977639"/>
            <a:ext cx="64008" cy="1234440"/>
          </a:xfrm>
          <a:prstGeom prst="rect">
            <a:avLst/>
          </a:prstGeom>
          <a:solidFill>
            <a:srgbClr val="71E096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4123944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Determinism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544568"/>
            <a:ext cx="2916936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source記述順に依存しない更新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非同期deviceを使っても、signal更新とevent配送はruntimeが統制する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非同期呼び出し・Parallel・Barrier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2468880"/>
            <a:ext cx="146304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78608"/>
            <a:ext cx="13167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Candidate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834640"/>
            <a:ext cx="131673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code&lt;internal&gt;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234440"/>
            <a:ext cx="1508760" cy="749808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134416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Compiler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1600200"/>
            <a:ext cx="1362456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async call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057400" y="1609344"/>
            <a:ext cx="731520" cy="1298448"/>
          </a:xfrm>
          <a:prstGeom prst="line">
            <a:avLst/>
          </a:prstGeom>
          <a:ln w="1905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97679" y="1609344"/>
            <a:ext cx="1353313" cy="1298448"/>
          </a:xfrm>
          <a:prstGeom prst="line">
            <a:avLst/>
          </a:prstGeom>
          <a:ln w="1905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88920" y="2468880"/>
            <a:ext cx="1508760" cy="749808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257860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2834640"/>
            <a:ext cx="1362456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async call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057400" y="2843784"/>
            <a:ext cx="731520" cy="64008"/>
          </a:xfrm>
          <a:prstGeom prst="line">
            <a:avLst/>
          </a:prstGeom>
          <a:ln w="1905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297679" y="2843784"/>
            <a:ext cx="1353313" cy="64008"/>
          </a:xfrm>
          <a:prstGeom prst="line">
            <a:avLst/>
          </a:prstGeom>
          <a:ln w="1905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88920" y="3703320"/>
            <a:ext cx="1508760" cy="749808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62072" y="381304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Prover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4069080"/>
            <a:ext cx="1362456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async call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57400" y="2907792"/>
            <a:ext cx="731520" cy="1170432"/>
          </a:xfrm>
          <a:prstGeom prst="line">
            <a:avLst/>
          </a:prstGeom>
          <a:ln w="1905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297679" y="2907792"/>
            <a:ext cx="1353313" cy="1170432"/>
          </a:xfrm>
          <a:prstGeom prst="line">
            <a:avLst/>
          </a:prstGeom>
          <a:ln w="1905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50992" y="2423160"/>
            <a:ext cx="1417320" cy="96012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4144" y="2532888"/>
            <a:ext cx="12710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Barrier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44" y="2788920"/>
            <a:ext cx="127101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all ready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2423160"/>
            <a:ext cx="1508760" cy="96012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1272" y="253288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1272" y="2788920"/>
            <a:ext cx="136245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aggregate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2423160"/>
            <a:ext cx="1508760" cy="96012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2" y="253288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Judge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2788920"/>
            <a:ext cx="136245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pass / fail</a:t>
            </a:r>
          </a:p>
        </p:txBody>
      </p:sp>
      <p:sp>
        <p:nvSpPr>
          <p:cNvPr id="32" name="Chevron 31"/>
          <p:cNvSpPr/>
          <p:nvPr/>
        </p:nvSpPr>
        <p:spPr>
          <a:xfrm>
            <a:off x="7269480" y="2706624"/>
            <a:ext cx="292608" cy="384048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evron 32"/>
          <p:cNvSpPr/>
          <p:nvPr/>
        </p:nvSpPr>
        <p:spPr>
          <a:xfrm>
            <a:off x="9400032" y="2706624"/>
            <a:ext cx="292608" cy="384048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286000" y="4800600"/>
            <a:ext cx="2468880" cy="7772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4800600"/>
            <a:ext cx="64008" cy="7772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87168" y="4946904"/>
            <a:ext cx="21396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Timeout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5367528"/>
            <a:ext cx="2139696" cy="822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遅延結果を現在runへ混入させない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2040" y="4800600"/>
            <a:ext cx="2468880" cy="7772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92040" y="4800600"/>
            <a:ext cx="64008" cy="77724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93207" y="4946904"/>
            <a:ext cx="21396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Cancellation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93207" y="5367528"/>
            <a:ext cx="2139696" cy="822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失敗時にorphan processを残さない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79" y="4800600"/>
            <a:ext cx="2468880" cy="7772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79" y="4800600"/>
            <a:ext cx="64008" cy="77724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4946904"/>
            <a:ext cx="21396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Correlation 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5367528"/>
            <a:ext cx="2139696" cy="822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古いcallと新しいcallを区別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DECISION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Judge / Completion / Feedback：反復の心臓部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2331720"/>
            <a:ext cx="150876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44144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Candidate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697479"/>
            <a:ext cx="136245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AIの提案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25880"/>
            <a:ext cx="1691640" cy="749808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435607"/>
            <a:ext cx="1545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1691640"/>
            <a:ext cx="1545336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exit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23160"/>
            <a:ext cx="1691640" cy="749808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2532888"/>
            <a:ext cx="1545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788920"/>
            <a:ext cx="1545336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failed =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520440"/>
            <a:ext cx="1691640" cy="749808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3630168"/>
            <a:ext cx="1545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3886200"/>
            <a:ext cx="1545336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violations = 0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103120" y="1700784"/>
            <a:ext cx="640080" cy="1069848"/>
          </a:xfrm>
          <a:prstGeom prst="line">
            <a:avLst/>
          </a:prstGeom>
          <a:ln w="1778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03120" y="2770632"/>
            <a:ext cx="640080" cy="27432"/>
          </a:xfrm>
          <a:prstGeom prst="line">
            <a:avLst/>
          </a:prstGeom>
          <a:ln w="1778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03120" y="2770632"/>
            <a:ext cx="640080" cy="1124712"/>
          </a:xfrm>
          <a:prstGeom prst="line">
            <a:avLst/>
          </a:prstGeom>
          <a:ln w="1778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57800" y="2331720"/>
            <a:ext cx="160020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0952" y="2441448"/>
            <a:ext cx="1453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Judge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2697479"/>
            <a:ext cx="145389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deterministic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34840" y="1700784"/>
            <a:ext cx="822960" cy="1069848"/>
          </a:xfrm>
          <a:prstGeom prst="line">
            <a:avLst/>
          </a:prstGeom>
          <a:ln w="1778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434840" y="2770632"/>
            <a:ext cx="822960" cy="27432"/>
          </a:xfrm>
          <a:prstGeom prst="line">
            <a:avLst/>
          </a:prstGeom>
          <a:ln w="1778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434840" y="2770632"/>
            <a:ext cx="822960" cy="1124712"/>
          </a:xfrm>
          <a:prstGeom prst="line">
            <a:avLst/>
          </a:prstGeom>
          <a:ln w="1778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43800" y="1600200"/>
            <a:ext cx="1508760" cy="82296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170992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1965960"/>
            <a:ext cx="136245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条件成立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3337560"/>
            <a:ext cx="1508760" cy="82296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16952" y="344728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3703320"/>
            <a:ext cx="136245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error / diff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858000" y="2011680"/>
            <a:ext cx="685800" cy="640080"/>
          </a:xfrm>
          <a:prstGeom prst="line">
            <a:avLst/>
          </a:prstGeom>
          <a:ln w="22860">
            <a:solidFill>
              <a:srgbClr val="71E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58000" y="2880360"/>
            <a:ext cx="685800" cy="868679"/>
          </a:xfrm>
          <a:prstGeom prst="line">
            <a:avLst/>
          </a:prstGeom>
          <a:ln w="2286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52560" y="3749039"/>
            <a:ext cx="1463040" cy="0"/>
          </a:xfrm>
          <a:prstGeom prst="line">
            <a:avLst/>
          </a:prstGeom>
          <a:ln w="2286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515600" y="3749039"/>
            <a:ext cx="0" cy="1051561"/>
          </a:xfrm>
          <a:prstGeom prst="line">
            <a:avLst/>
          </a:prstGeom>
          <a:ln w="2286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325880" y="4800600"/>
            <a:ext cx="9189720" cy="0"/>
          </a:xfrm>
          <a:prstGeom prst="line">
            <a:avLst/>
          </a:prstGeom>
          <a:ln w="2286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325880" y="3200400"/>
            <a:ext cx="0" cy="1600200"/>
          </a:xfrm>
          <a:prstGeom prst="line">
            <a:avLst/>
          </a:prstGeom>
          <a:ln w="2286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evron 37"/>
          <p:cNvSpPr/>
          <p:nvPr/>
        </p:nvSpPr>
        <p:spPr>
          <a:xfrm>
            <a:off x="1170432" y="3255264"/>
            <a:ext cx="310896" cy="365760"/>
          </a:xfrm>
          <a:prstGeom prst="chevron">
            <a:avLst/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4272" y="4114800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F6B7A"/>
                </a:solidFill>
                <a:latin typeface="Yu Gothic"/>
              </a:defRPr>
            </a:pPr>
            <a:r>
              <a:t>診断付き再試行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モデルが『完了』と言うことは、完了証明ではない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BOUNDS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Budget / Timer / Timeout：必ず止まる仕組み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463040"/>
            <a:ext cx="1920240" cy="1188720"/>
          </a:xfrm>
          <a:prstGeom prst="roundRect">
            <a:avLst/>
          </a:prstGeom>
          <a:solidFill>
            <a:srgbClr val="141F33"/>
          </a:solidFill>
          <a:ln w="2286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664208"/>
            <a:ext cx="17007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9FB0C7"/>
                </a:solidFill>
                <a:latin typeface="Consolas"/>
              </a:defRPr>
            </a:pPr>
            <a:r>
              <a:t>iterations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84831"/>
            <a:ext cx="17007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F4F7FB"/>
                </a:solidFill>
                <a:latin typeface="Yu Gothic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63040"/>
            <a:ext cx="1920240" cy="1188720"/>
          </a:xfrm>
          <a:prstGeom prst="roundRect">
            <a:avLst/>
          </a:prstGeom>
          <a:solidFill>
            <a:srgbClr val="141F33"/>
          </a:solidFill>
          <a:ln w="2286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0088" y="1664208"/>
            <a:ext cx="17007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9FB0C7"/>
                </a:solidFill>
                <a:latin typeface="Consolas"/>
              </a:defRPr>
            </a:pPr>
            <a:r>
              <a:t>wall_time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084831"/>
            <a:ext cx="17007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F4F7FB"/>
                </a:solidFill>
                <a:latin typeface="Yu Gothic"/>
              </a:defRPr>
            </a:pPr>
            <a:r>
              <a:t>30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463040"/>
            <a:ext cx="1920240" cy="1188720"/>
          </a:xfrm>
          <a:prstGeom prst="roundRect">
            <a:avLst/>
          </a:prstGeom>
          <a:solidFill>
            <a:srgbClr val="141F33"/>
          </a:solidFill>
          <a:ln w="2286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6088" y="1664208"/>
            <a:ext cx="17007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9FB0C7"/>
                </a:solidFill>
                <a:latin typeface="Consolas"/>
              </a:defRPr>
            </a:pPr>
            <a:r>
              <a:t>llm_tokens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2084831"/>
            <a:ext cx="17007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F4F7FB"/>
                </a:solidFill>
                <a:latin typeface="Yu Gothic"/>
              </a:defRPr>
            </a:pPr>
            <a:r>
              <a:t>200k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463040"/>
            <a:ext cx="1920240" cy="1188720"/>
          </a:xfrm>
          <a:prstGeom prst="roundRect">
            <a:avLst/>
          </a:prstGeom>
          <a:solidFill>
            <a:srgbClr val="141F33"/>
          </a:solidFill>
          <a:ln w="2286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1664208"/>
            <a:ext cx="17007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9FB0C7"/>
                </a:solidFill>
                <a:latin typeface="Consolas"/>
              </a:defRPr>
            </a:pPr>
            <a:r>
              <a:t>tool_calls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2084831"/>
            <a:ext cx="17007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F4F7FB"/>
                </a:solidFill>
                <a:latin typeface="Yu Gothic"/>
              </a:defRPr>
            </a:pPr>
            <a:r>
              <a:t>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1463040"/>
            <a:ext cx="1920240" cy="1188720"/>
          </a:xfrm>
          <a:prstGeom prst="roundRect">
            <a:avLst/>
          </a:prstGeom>
          <a:solidFill>
            <a:srgbClr val="141F33"/>
          </a:solidFill>
          <a:ln w="2286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48088" y="1664208"/>
            <a:ext cx="17007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9FB0C7"/>
                </a:solidFill>
                <a:latin typeface="Consolas"/>
              </a:defRPr>
            </a:pPr>
            <a:r>
              <a:t>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8088" y="2084831"/>
            <a:ext cx="17007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F4F7FB"/>
                </a:solidFill>
                <a:latin typeface="Yu Gothic"/>
              </a:defRPr>
            </a:pPr>
            <a:r>
              <a:t>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54680"/>
            <a:ext cx="3246120" cy="12984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154680"/>
            <a:ext cx="64008" cy="1298448"/>
          </a:xfrm>
          <a:prstGeom prst="rect">
            <a:avLst/>
          </a:prstGeom>
          <a:solidFill>
            <a:srgbClr val="26D9C7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300984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600" b="1">
                <a:solidFill>
                  <a:srgbClr val="F4F7FB"/>
                </a:solidFill>
                <a:latin typeface="Yu Gothic"/>
              </a:defRPr>
            </a:pPr>
            <a:r>
              <a:t>Timer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721608"/>
            <a:ext cx="2916936" cy="6035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周期的にeventを発生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監視・定期処理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2272" y="3154680"/>
            <a:ext cx="3246120" cy="12984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62272" y="3154680"/>
            <a:ext cx="64008" cy="129844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300984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600" b="1">
                <a:solidFill>
                  <a:srgbClr val="F4F7FB"/>
                </a:solidFill>
                <a:latin typeface="Yu Gothic"/>
              </a:defRPr>
            </a:pPr>
            <a:r>
              <a:t>Timeout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721608"/>
            <a:ext cx="2916936" cy="6035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operation / processの期限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cancelと失敗event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154680"/>
            <a:ext cx="3246120" cy="12984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154680"/>
            <a:ext cx="64008" cy="1298448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3300984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600" b="1">
                <a:solidFill>
                  <a:srgbClr val="F4F7FB"/>
                </a:solidFill>
                <a:latin typeface="Yu Gothic"/>
              </a:defRPr>
            </a:pPr>
            <a:r>
              <a:t>Exhausted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3721608"/>
            <a:ext cx="2916936" cy="6035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上限到達を構造化event化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モデルは延長できない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4892040"/>
            <a:ext cx="8458200" cy="65836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5074920"/>
            <a:ext cx="81838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71E096"/>
                </a:solidFill>
                <a:latin typeface="Yu Gothic"/>
              </a:defRPr>
            </a:pPr>
            <a:r>
              <a:t>停止性はプロンプト上のお願いではなく、runtimeの不変条件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複数のbudgetが適用される場合は、最も厳しい上限を採用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SECURITY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Policy / Declassifier / Gateway：安全な経路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2240280"/>
            <a:ext cx="169164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2350008"/>
            <a:ext cx="1545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Restricted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606040"/>
            <a:ext cx="154533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local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240280"/>
            <a:ext cx="169164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2350008"/>
            <a:ext cx="1545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Local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606040"/>
            <a:ext cx="154533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clearance: restricted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240280"/>
            <a:ext cx="169164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2" y="2350008"/>
            <a:ext cx="1545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Declassifier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2" y="2606040"/>
            <a:ext cx="154533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trusted transform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240280"/>
            <a:ext cx="169164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2350008"/>
            <a:ext cx="1545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Cloud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2606040"/>
            <a:ext cx="154533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payload re-check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2240280"/>
            <a:ext cx="1691640" cy="86868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85832" y="2350008"/>
            <a:ext cx="1545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Cloud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5832" y="2606040"/>
            <a:ext cx="1545336" cy="4571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clearance: internal</a:t>
            </a:r>
          </a:p>
        </p:txBody>
      </p:sp>
      <p:sp>
        <p:nvSpPr>
          <p:cNvPr id="20" name="Chevron 19"/>
          <p:cNvSpPr/>
          <p:nvPr/>
        </p:nvSpPr>
        <p:spPr>
          <a:xfrm>
            <a:off x="2331720" y="2487168"/>
            <a:ext cx="292608" cy="384048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4709160" y="2487168"/>
            <a:ext cx="292608" cy="384048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7086600" y="2487168"/>
            <a:ext cx="292608" cy="384048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9464040" y="2487168"/>
            <a:ext cx="292608" cy="384048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1554480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AE8BFF"/>
                </a:solidFill>
                <a:latin typeface="Yu Gothic"/>
              </a:defRPr>
            </a:pPr>
            <a:r>
              <a:t>restricted → internal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822191"/>
            <a:ext cx="3246120" cy="12344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822191"/>
            <a:ext cx="64008" cy="123444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968496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静的検査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389120"/>
            <a:ext cx="2916936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source上の接続とclassification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2272" y="3822191"/>
            <a:ext cx="3246120" cy="12344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62272" y="3822191"/>
            <a:ext cx="64008" cy="1234440"/>
          </a:xfrm>
          <a:prstGeom prst="rect">
            <a:avLst/>
          </a:prstGeom>
          <a:solidFill>
            <a:srgbClr val="AE8BFF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968496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明示的解除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389120"/>
            <a:ext cx="2916936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from / to / method / audit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822191"/>
            <a:ext cx="3246120" cy="12344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3822191"/>
            <a:ext cx="64008" cy="123444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0768" y="3968496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実行時検査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4389120"/>
            <a:ext cx="2916936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taint / secret / DLP / destination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静的に合格しても、実payloadのgateway検査を省略しない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SIDE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Capability / Sandbox / Approval：作用を制御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325880"/>
            <a:ext cx="1920240" cy="56692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72184"/>
            <a:ext cx="16824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7792" y="1472184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計算・検証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76272"/>
            <a:ext cx="1920240" cy="56692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22576"/>
            <a:ext cx="16824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2322576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許可範囲の参照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26664"/>
            <a:ext cx="1920240" cy="56692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172968"/>
            <a:ext cx="16824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3172968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sandbox内変更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920240" cy="56692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023360"/>
            <a:ext cx="16824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EXTERNAL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4023360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push・送信・deploy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3986784"/>
            <a:ext cx="1508760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995928"/>
            <a:ext cx="150876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B454"/>
                </a:solidFill>
                <a:latin typeface="Yu Gothic"/>
              </a:defRPr>
            </a:pPr>
            <a:r>
              <a:t>承認が必要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27448"/>
            <a:ext cx="1920240" cy="56692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873752"/>
            <a:ext cx="16824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DESTRUCTIVE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7792" y="4873752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削除・本番変更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4837176"/>
            <a:ext cx="1508760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4846320"/>
            <a:ext cx="150876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6B7A"/>
                </a:solidFill>
                <a:latin typeface="Yu Gothic"/>
              </a:defRPr>
            </a:pPr>
            <a:r>
              <a:t>承認が必要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325880"/>
            <a:ext cx="3749039" cy="4224528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1618488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F4F7FB"/>
                </a:solidFill>
                <a:latin typeface="Yu Gothic"/>
              </a:defRPr>
            </a:pPr>
            <a:r>
              <a:t>Workspace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286000"/>
            <a:ext cx="2560320" cy="77724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2395728"/>
            <a:ext cx="2414015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temporary worktree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2651760"/>
            <a:ext cx="2414015" cy="3657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agent modifies here</a:t>
            </a:r>
          </a:p>
        </p:txBody>
      </p:sp>
      <p:sp>
        <p:nvSpPr>
          <p:cNvPr id="29" name="Chevron 28"/>
          <p:cNvSpPr/>
          <p:nvPr/>
        </p:nvSpPr>
        <p:spPr>
          <a:xfrm>
            <a:off x="9345168" y="3246120"/>
            <a:ext cx="320040" cy="411480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75320" y="3749039"/>
            <a:ext cx="2560320" cy="777240"/>
          </a:xfrm>
          <a:prstGeom prst="roundRect">
            <a:avLst/>
          </a:prstGeom>
          <a:solidFill>
            <a:srgbClr val="141F33"/>
          </a:solidFill>
          <a:ln w="2032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2" y="3858768"/>
            <a:ext cx="2414015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diff /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4114800"/>
            <a:ext cx="2414015" cy="3657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reviewable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82803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FB454"/>
                </a:solidFill>
                <a:latin typeface="Yu Gothic"/>
              </a:defRPr>
            </a:pPr>
            <a:r>
              <a:t>実treeへは別のapply step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projectは自分自身へ外側policy以上の権限を付与できない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Audit / Checkpoint / Provenance：観測できるループ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709160" y="1874519"/>
            <a:ext cx="2743200" cy="2743200"/>
          </a:xfrm>
          <a:prstGeom prst="ellipse">
            <a:avLst/>
          </a:prstGeom>
          <a:solidFill>
            <a:srgbClr val="10283A"/>
          </a:solidFill>
          <a:ln w="29209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715768"/>
            <a:ext cx="21031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F4F7FB"/>
                </a:solidFill>
                <a:latin typeface="Yu Gothic"/>
              </a:defRPr>
            </a:pPr>
            <a:r>
              <a:t>RUN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2352" y="3172968"/>
            <a:ext cx="19568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6D9C7"/>
                </a:solidFill>
                <a:latin typeface="Yu Gothic"/>
              </a:defRPr>
            </a:pPr>
            <a:r>
              <a:t>比較・再現・改善の</a:t>
            </a:r>
          </a:p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6D9C7"/>
                </a:solidFill>
                <a:latin typeface="Yu Gothic"/>
              </a:defRPr>
            </a:pPr>
            <a:r>
              <a:t>ための実行証拠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251460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53312"/>
            <a:ext cx="64008" cy="84124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499616"/>
            <a:ext cx="21854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Audit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20240"/>
            <a:ext cx="21854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event / decision / error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1773936"/>
            <a:ext cx="1600200" cy="1472184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" y="3127248"/>
            <a:ext cx="251460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127248"/>
            <a:ext cx="64008" cy="84124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273552"/>
            <a:ext cx="21854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Budget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694176"/>
            <a:ext cx="21854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消費量と停止理由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108960" y="3246120"/>
            <a:ext cx="1600200" cy="301752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94360" y="4773168"/>
            <a:ext cx="251460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773168"/>
            <a:ext cx="64008" cy="841248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919472"/>
            <a:ext cx="21854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Redaction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340096"/>
            <a:ext cx="21854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raw restrictedを記録しない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108960" y="3246120"/>
            <a:ext cx="1600200" cy="1947672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98280" y="1353312"/>
            <a:ext cx="251460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353312"/>
            <a:ext cx="64008" cy="841248"/>
          </a:xfrm>
          <a:prstGeom prst="rect">
            <a:avLst/>
          </a:prstGeom>
          <a:solidFill>
            <a:srgbClr val="71E096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448" y="1499616"/>
            <a:ext cx="21854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1920240"/>
            <a:ext cx="21854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承認待ち・再開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452360" y="1773936"/>
            <a:ext cx="1645920" cy="1472184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98280" y="3127248"/>
            <a:ext cx="251460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3127248"/>
            <a:ext cx="64008" cy="841248"/>
          </a:xfrm>
          <a:prstGeom prst="rect">
            <a:avLst/>
          </a:prstGeom>
          <a:solidFill>
            <a:srgbClr val="AE8BFF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3273552"/>
            <a:ext cx="21854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Provenance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694176"/>
            <a:ext cx="21854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source / transform / run ID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452360" y="3246120"/>
            <a:ext cx="1645920" cy="301752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098280" y="4773168"/>
            <a:ext cx="2514600" cy="8412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4773168"/>
            <a:ext cx="64008" cy="841248"/>
          </a:xfrm>
          <a:prstGeom prst="rect">
            <a:avLst/>
          </a:prstGeom>
          <a:solidFill>
            <a:srgbClr val="26D9C7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9448" y="4919472"/>
            <a:ext cx="21854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F4F7FB"/>
                </a:solidFill>
                <a:latin typeface="Yu Gothic"/>
              </a:defRPr>
            </a:pPr>
            <a:r>
              <a:t>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5340096"/>
            <a:ext cx="21854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成功率・時間・cost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7452360" y="3246120"/>
            <a:ext cx="1645920" cy="1947672"/>
          </a:xfrm>
          <a:prstGeom prst="line">
            <a:avLst/>
          </a:prstGeom>
          <a:ln w="1397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ログを残すためではなく、ループを比較し改善するために観測する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EXECUTION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End-to-End：コード開発ループの1回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417320"/>
            <a:ext cx="2487168" cy="1261872"/>
          </a:xfrm>
          <a:prstGeom prst="roundRect">
            <a:avLst/>
          </a:prstGeom>
          <a:solidFill>
            <a:srgbClr val="141F33"/>
          </a:solidFill>
          <a:ln w="1905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6362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5AA9FF"/>
                </a:solidFill>
                <a:latin typeface="Yu Gothic"/>
              </a:defRPr>
            </a:pPr>
            <a: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57276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task.changed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84832"/>
            <a:ext cx="20848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入力を確定</a:t>
            </a:r>
          </a:p>
        </p:txBody>
      </p:sp>
      <p:sp>
        <p:nvSpPr>
          <p:cNvPr id="9" name="Chevron 8"/>
          <p:cNvSpPr/>
          <p:nvPr/>
        </p:nvSpPr>
        <p:spPr>
          <a:xfrm>
            <a:off x="3218687" y="1856232"/>
            <a:ext cx="182880" cy="320040"/>
          </a:xfrm>
          <a:prstGeom prst="chevron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487168" cy="1261872"/>
          </a:xfrm>
          <a:prstGeom prst="roundRect">
            <a:avLst/>
          </a:prstGeom>
          <a:solidFill>
            <a:srgbClr val="141F33"/>
          </a:solidFill>
          <a:ln w="1905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56362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5AA9FF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7" y="157276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coder.run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084832"/>
            <a:ext cx="20848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候補を生成</a:t>
            </a:r>
          </a:p>
        </p:txBody>
      </p:sp>
      <p:sp>
        <p:nvSpPr>
          <p:cNvPr id="14" name="Chevron 13"/>
          <p:cNvSpPr/>
          <p:nvPr/>
        </p:nvSpPr>
        <p:spPr>
          <a:xfrm>
            <a:off x="6035040" y="1856232"/>
            <a:ext cx="182880" cy="320040"/>
          </a:xfrm>
          <a:prstGeom prst="chevron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417320"/>
            <a:ext cx="2487168" cy="1261872"/>
          </a:xfrm>
          <a:prstGeom prst="roundRect">
            <a:avLst/>
          </a:prstGeom>
          <a:solidFill>
            <a:srgbClr val="141F33"/>
          </a:solidFill>
          <a:ln w="1905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56362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AE8BFF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57276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parallel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84832"/>
            <a:ext cx="20848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build / test / proof</a:t>
            </a:r>
          </a:p>
        </p:txBody>
      </p:sp>
      <p:sp>
        <p:nvSpPr>
          <p:cNvPr id="19" name="Chevron 18"/>
          <p:cNvSpPr/>
          <p:nvPr/>
        </p:nvSpPr>
        <p:spPr>
          <a:xfrm>
            <a:off x="8851392" y="1856232"/>
            <a:ext cx="182880" cy="320040"/>
          </a:xfrm>
          <a:prstGeom prst="chevron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07424" y="1417320"/>
            <a:ext cx="2487168" cy="1261872"/>
          </a:xfrm>
          <a:prstGeom prst="roundRect">
            <a:avLst/>
          </a:prstGeom>
          <a:solidFill>
            <a:srgbClr val="141F33"/>
          </a:solidFill>
          <a:ln w="1905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6" y="156362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26D9C7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157276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barrier.ready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084832"/>
            <a:ext cx="20848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全結果を合流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429000"/>
            <a:ext cx="2487168" cy="1261872"/>
          </a:xfrm>
          <a:prstGeom prst="roundRect">
            <a:avLst/>
          </a:prstGeom>
          <a:solidFill>
            <a:srgbClr val="141F33"/>
          </a:solidFill>
          <a:ln w="1905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357530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5AA9FF"/>
                </a:solidFill>
                <a:latin typeface="Yu Gothic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358444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review.run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096512"/>
            <a:ext cx="20848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safe contextを評価</a:t>
            </a:r>
          </a:p>
        </p:txBody>
      </p:sp>
      <p:sp>
        <p:nvSpPr>
          <p:cNvPr id="28" name="Chevron 27"/>
          <p:cNvSpPr/>
          <p:nvPr/>
        </p:nvSpPr>
        <p:spPr>
          <a:xfrm>
            <a:off x="3218687" y="3867912"/>
            <a:ext cx="182880" cy="320040"/>
          </a:xfrm>
          <a:prstGeom prst="chevron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74720" y="3429000"/>
            <a:ext cx="2487168" cy="1261872"/>
          </a:xfrm>
          <a:prstGeom prst="roundRect">
            <a:avLst/>
          </a:prstGeom>
          <a:solidFill>
            <a:srgbClr val="141F33"/>
          </a:solidFill>
          <a:ln w="1905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357530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71E096"/>
                </a:solidFill>
                <a:latin typeface="Yu Gothic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7" y="358444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judge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7" y="4096512"/>
            <a:ext cx="20848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決定的に判定</a:t>
            </a:r>
          </a:p>
        </p:txBody>
      </p:sp>
      <p:sp>
        <p:nvSpPr>
          <p:cNvPr id="33" name="Chevron 32"/>
          <p:cNvSpPr/>
          <p:nvPr/>
        </p:nvSpPr>
        <p:spPr>
          <a:xfrm>
            <a:off x="6035040" y="3867912"/>
            <a:ext cx="182880" cy="320040"/>
          </a:xfrm>
          <a:prstGeom prst="chevron">
            <a:avLst/>
          </a:prstGeom>
          <a:solidFill>
            <a:srgbClr val="71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1072" y="3429000"/>
            <a:ext cx="2487168" cy="1261872"/>
          </a:xfrm>
          <a:prstGeom prst="roundRect">
            <a:avLst/>
          </a:prstGeom>
          <a:solidFill>
            <a:srgbClr val="141F33"/>
          </a:solidFill>
          <a:ln w="1905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357530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F6B7A"/>
                </a:solidFill>
                <a:latin typeface="Yu Gothic"/>
              </a:defRPr>
            </a:pPr>
            <a:r>
              <a:t>06a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58444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feedback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096512"/>
            <a:ext cx="20848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診断を戻す</a:t>
            </a:r>
          </a:p>
        </p:txBody>
      </p:sp>
      <p:sp>
        <p:nvSpPr>
          <p:cNvPr id="38" name="Chevron 37"/>
          <p:cNvSpPr/>
          <p:nvPr/>
        </p:nvSpPr>
        <p:spPr>
          <a:xfrm>
            <a:off x="8851392" y="3867912"/>
            <a:ext cx="182880" cy="320040"/>
          </a:xfrm>
          <a:prstGeom prst="chevron">
            <a:avLst/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07424" y="3429000"/>
            <a:ext cx="2487168" cy="1261872"/>
          </a:xfrm>
          <a:prstGeom prst="roundRect">
            <a:avLst/>
          </a:prstGeom>
          <a:solidFill>
            <a:srgbClr val="141F33"/>
          </a:solidFill>
          <a:ln w="1905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72016" y="357530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71E096"/>
                </a:solidFill>
                <a:latin typeface="Yu Gothic"/>
              </a:defRPr>
            </a:pPr>
            <a:r>
              <a:t>06b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65792" y="358444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complete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4096512"/>
            <a:ext cx="20848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条件成立で停止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400032" y="3675887"/>
            <a:ext cx="0" cy="1554481"/>
          </a:xfrm>
          <a:prstGeom prst="line">
            <a:avLst/>
          </a:prstGeom>
          <a:ln w="2159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828800" y="5230368"/>
            <a:ext cx="7571232" cy="0"/>
          </a:xfrm>
          <a:prstGeom prst="line">
            <a:avLst/>
          </a:prstGeom>
          <a:ln w="2159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hevron 44"/>
          <p:cNvSpPr/>
          <p:nvPr/>
        </p:nvSpPr>
        <p:spPr>
          <a:xfrm>
            <a:off x="1536192" y="5056632"/>
            <a:ext cx="292608" cy="347472"/>
          </a:xfrm>
          <a:prstGeom prst="chevron">
            <a:avLst/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24528" y="5340096"/>
            <a:ext cx="2926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F6B7A"/>
                </a:solidFill>
                <a:latin typeface="Yu Gothic"/>
              </a:defRPr>
            </a:pPr>
            <a:r>
              <a:t>06aは次のiterationへ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各eventにrun ID・classification・budget・policy decisionを関連付ける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実装境界と次の構成要素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389888"/>
            <a:ext cx="3383280" cy="416052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89888"/>
            <a:ext cx="64008" cy="4160520"/>
          </a:xfrm>
          <a:prstGeom prst="rect">
            <a:avLst/>
          </a:prstGeom>
          <a:solidFill>
            <a:srgbClr val="71E096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36192"/>
            <a:ext cx="30540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900" b="1">
                <a:solidFill>
                  <a:srgbClr val="F4F7FB"/>
                </a:solidFill>
                <a:latin typeface="Yu Gothic"/>
              </a:defRPr>
            </a:pPr>
            <a:r>
              <a:rPr/>
              <a:t>v0.1 — 実装済み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56816"/>
            <a:ext cx="3054096" cy="3465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✓ parser / aic check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✓ 情報フロー検査 E3xx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✓ route 束縛と run-design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✓ delta cycle / budget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✓ timer / parallel / barrier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✓ Effect・承認・監査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89888"/>
            <a:ext cx="3383280" cy="416052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389888"/>
            <a:ext cx="64008" cy="416052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536192"/>
            <a:ext cx="30540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900" b="1">
                <a:solidFill>
                  <a:srgbClr val="F4F7FB"/>
                </a:solidFill>
                <a:latin typeface="Yu Gothic"/>
              </a:defRPr>
            </a:pPr>
            <a:r>
              <a:rPr/>
              <a:t>v0.2 候補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956816"/>
            <a:ext cx="3054096" cy="3465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Event 宣言・完了条件の構文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FSM / case / await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declassifier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HTTP MCP transport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parallel の同時 dispatch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CLI resume / run 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389888"/>
            <a:ext cx="3383280" cy="416052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6448" y="1389888"/>
            <a:ext cx="64008" cy="41605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536192"/>
            <a:ext cx="30540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900" b="1">
                <a:solidFill>
                  <a:srgbClr val="F4F7FB"/>
                </a:solidFill>
                <a:latin typeface="Yu Gothic"/>
              </a:defRPr>
            </a:pPr>
            <a:r>
              <a:rPr/>
              <a:t>AI Conductor 運用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1956816"/>
            <a:ext cx="3054096" cy="3465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主制御 27B と予備 8B / 4B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判断器（decider）の差し替え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cloud route は明示 opt-in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引数を補うアダプタ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主制御ベンチマーク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9FB0C7"/>
                </a:solidFill>
                <a:latin typeface="Yu Gothic"/>
              </a:defRPr>
            </a:pPr>
            <a:r>
              <a:rPr/>
              <a:t>チュートリアル（TeX / PDF）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rPr/>
              <a:t>v0.1 の範囲と状態は PROFILE_v0.1 の表がテストで実装と対応。小さな単位で検証しながら進める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30352"/>
            <a:ext cx="1600200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9496"/>
            <a:ext cx="16002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REFERENCE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69494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200" b="1">
                <a:solidFill>
                  <a:srgbClr val="F4F7FB"/>
                </a:solidFill>
                <a:latin typeface="Yu Gothic"/>
              </a:defRPr>
            </a:pPr>
            <a:r>
              <a:t>ループを構成するもの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47672"/>
            <a:ext cx="7040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6D9C7"/>
                </a:solidFill>
                <a:latin typeface="Yu Gothic"/>
              </a:defRPr>
            </a:pPr>
            <a:r>
              <a:t>Structure × Control × Bounds × Safety ×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88920"/>
            <a:ext cx="1417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5AA9FF"/>
                </a:solidFill>
                <a:latin typeface="Consolas"/>
              </a:defRPr>
            </a:pPr>
            <a:r>
              <a:t>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788920"/>
            <a:ext cx="4297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Consolas"/>
              </a:defRPr>
            </a:pPr>
            <a:r>
              <a:t>device / port /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374136"/>
            <a:ext cx="1417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6D9C7"/>
                </a:solidFill>
                <a:latin typeface="Consolas"/>
              </a:defRPr>
            </a:pPr>
            <a: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374136"/>
            <a:ext cx="4297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Consolas"/>
              </a:defRPr>
            </a:pPr>
            <a:r>
              <a:t>event / process / FSM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959352"/>
            <a:ext cx="1417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FB454"/>
                </a:solidFill>
                <a:latin typeface="Consolas"/>
              </a:defRPr>
            </a:pPr>
            <a:r>
              <a:t>Bounds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959352"/>
            <a:ext cx="4297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Consolas"/>
              </a:defRPr>
            </a:pPr>
            <a:r>
              <a:t>budget / timeout / completion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44568"/>
            <a:ext cx="1417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F6B7A"/>
                </a:solidFill>
                <a:latin typeface="Consolas"/>
              </a:defRPr>
            </a:pPr>
            <a:r>
              <a:t>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544568"/>
            <a:ext cx="4297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Consolas"/>
              </a:defRPr>
            </a:pPr>
            <a:r>
              <a:t>policy / sandbox /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129783"/>
            <a:ext cx="1417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1E096"/>
                </a:solidFill>
                <a:latin typeface="Consolas"/>
              </a:defRPr>
            </a:pPr>
            <a: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129783"/>
            <a:ext cx="4297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Consolas"/>
              </a:defRPr>
            </a:pPr>
            <a:r>
              <a:t>audit / provenance / checkpoint</a:t>
            </a:r>
          </a:p>
        </p:txBody>
      </p:sp>
      <p:pic>
        <p:nvPicPr>
          <p:cNvPr id="16" name="Picture 15" descr="awhdl-architecture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216152"/>
            <a:ext cx="2286000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73568" y="3822191"/>
            <a:ext cx="3657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rPr>
                <a:hlinkClick r:id="rId3"/>
              </a:rPr>
              <a:t>github.com/JO3ALT/awhdl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4297680"/>
            <a:ext cx="36576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日本語仕様・実装ガイド・Rust prototype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833872"/>
            <a:ext cx="1088136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934456"/>
            <a:ext cx="10515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26D9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AWHDLシステム全体とループ構成要素</dc:title>
  <dc:subject>AI Conductor system architecture and AWHDL loop anatomy</dc:subject>
  <dc:creator>JO3ALT</dc:creator>
  <cp:keywords>AWHDL, AI Conductor, MCP, Loop Engineering, Architecture</cp:keywords>
  <dc:description>Japanese detailed architecture deck; public draft v0.2 / prototype Milestone 1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